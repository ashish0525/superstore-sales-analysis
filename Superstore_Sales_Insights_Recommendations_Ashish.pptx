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72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4.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sv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4.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sv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00097D-76AF-43A7-B027-8FA01F79E1E4}" type="doc">
      <dgm:prSet loTypeId="urn:microsoft.com/office/officeart/2018/5/layout/IconCircle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A4AFDF4-1DD1-44A0-9879-E85E5F2C2D05}">
      <dgm:prSet custT="1"/>
      <dgm:spPr/>
      <dgm:t>
        <a:bodyPr/>
        <a:lstStyle/>
        <a:p>
          <a:pPr>
            <a:defRPr cap="all"/>
          </a:pPr>
          <a:r>
            <a:rPr lang="en-US" sz="1200" b="0" i="0" dirty="0"/>
            <a:t>Total Sales: $1.6M across 22K transactions with an average sale of $175K</a:t>
          </a:r>
          <a:r>
            <a:rPr lang="en-US" sz="1100" b="0" i="0" dirty="0"/>
            <a:t>.</a:t>
          </a:r>
          <a:endParaRPr lang="en-US" sz="1100" dirty="0"/>
        </a:p>
      </dgm:t>
    </dgm:pt>
    <dgm:pt modelId="{81D54325-BCFA-4568-8D04-EF2DB7EC4647}" type="parTrans" cxnId="{589B0F8F-6C67-4EB1-BF6E-C592634EB473}">
      <dgm:prSet/>
      <dgm:spPr/>
      <dgm:t>
        <a:bodyPr/>
        <a:lstStyle/>
        <a:p>
          <a:endParaRPr lang="en-US"/>
        </a:p>
      </dgm:t>
    </dgm:pt>
    <dgm:pt modelId="{5EF5176D-E844-4A5C-9B9C-7C0697693D38}" type="sibTrans" cxnId="{589B0F8F-6C67-4EB1-BF6E-C592634EB473}">
      <dgm:prSet/>
      <dgm:spPr/>
      <dgm:t>
        <a:bodyPr/>
        <a:lstStyle/>
        <a:p>
          <a:endParaRPr lang="en-US"/>
        </a:p>
      </dgm:t>
    </dgm:pt>
    <dgm:pt modelId="{A5E85E8B-CCA3-4314-B38F-23224ED4760E}">
      <dgm:prSet/>
      <dgm:spPr/>
      <dgm:t>
        <a:bodyPr/>
        <a:lstStyle/>
        <a:p>
          <a:pPr>
            <a:defRPr cap="all"/>
          </a:pPr>
          <a:r>
            <a:rPr lang="en-US" b="0" i="0" dirty="0"/>
            <a:t>West region leads with 33% of total sales, followed by East (29%) and Central (22%).</a:t>
          </a:r>
          <a:endParaRPr lang="en-US" dirty="0"/>
        </a:p>
      </dgm:t>
    </dgm:pt>
    <dgm:pt modelId="{A7FFEDC5-54D2-4A5C-B335-BA48A6B89D2F}" type="parTrans" cxnId="{523CC971-E46E-4D51-AD2F-918EF3C7889D}">
      <dgm:prSet/>
      <dgm:spPr/>
      <dgm:t>
        <a:bodyPr/>
        <a:lstStyle/>
        <a:p>
          <a:endParaRPr lang="en-US"/>
        </a:p>
      </dgm:t>
    </dgm:pt>
    <dgm:pt modelId="{B7780EA7-0113-4033-B3B3-02A8A56C98C4}" type="sibTrans" cxnId="{523CC971-E46E-4D51-AD2F-918EF3C7889D}">
      <dgm:prSet/>
      <dgm:spPr/>
      <dgm:t>
        <a:bodyPr/>
        <a:lstStyle/>
        <a:p>
          <a:endParaRPr lang="en-US"/>
        </a:p>
      </dgm:t>
    </dgm:pt>
    <dgm:pt modelId="{E75BEFBC-B13F-4F84-A91C-D2AE54F9EC7E}">
      <dgm:prSet/>
      <dgm:spPr/>
      <dgm:t>
        <a:bodyPr/>
        <a:lstStyle/>
        <a:p>
          <a:pPr>
            <a:defRPr cap="all"/>
          </a:pPr>
          <a:r>
            <a:rPr lang="en-US" b="0" i="0" dirty="0"/>
            <a:t>Consumer segment dominates with 48% share, Corporate (33%), and Home Office (19%).</a:t>
          </a:r>
          <a:endParaRPr lang="en-US" dirty="0"/>
        </a:p>
      </dgm:t>
    </dgm:pt>
    <dgm:pt modelId="{85335EFD-7494-40A4-8A67-39376CFD1D6F}" type="parTrans" cxnId="{1EF339CB-E1CA-40D6-918C-1BB4BA97ABD2}">
      <dgm:prSet/>
      <dgm:spPr/>
      <dgm:t>
        <a:bodyPr/>
        <a:lstStyle/>
        <a:p>
          <a:endParaRPr lang="en-US"/>
        </a:p>
      </dgm:t>
    </dgm:pt>
    <dgm:pt modelId="{A0F354E2-BACA-451A-A160-8D9EB2C5ED43}" type="sibTrans" cxnId="{1EF339CB-E1CA-40D6-918C-1BB4BA97ABD2}">
      <dgm:prSet/>
      <dgm:spPr/>
      <dgm:t>
        <a:bodyPr/>
        <a:lstStyle/>
        <a:p>
          <a:endParaRPr lang="en-US"/>
        </a:p>
      </dgm:t>
    </dgm:pt>
    <dgm:pt modelId="{80931607-649C-451B-8624-FF7F560C10BD}">
      <dgm:prSet/>
      <dgm:spPr/>
      <dgm:t>
        <a:bodyPr/>
        <a:lstStyle/>
        <a:p>
          <a:pPr>
            <a:defRPr cap="all"/>
          </a:pPr>
          <a:r>
            <a:rPr lang="en-US" b="0" i="0"/>
            <a:t>COD is the preferred payment mode (43%), followed by Online (35%) and Cards (22%).</a:t>
          </a:r>
          <a:endParaRPr lang="en-US"/>
        </a:p>
      </dgm:t>
    </dgm:pt>
    <dgm:pt modelId="{C3CFE6FB-56C9-4F7F-9C39-CCE1829EAE89}" type="parTrans" cxnId="{39183CA1-58C9-4BDF-AD62-7F11CFA1A162}">
      <dgm:prSet/>
      <dgm:spPr/>
      <dgm:t>
        <a:bodyPr/>
        <a:lstStyle/>
        <a:p>
          <a:endParaRPr lang="en-US"/>
        </a:p>
      </dgm:t>
    </dgm:pt>
    <dgm:pt modelId="{1141D5ED-7011-4488-B273-79427D62175C}" type="sibTrans" cxnId="{39183CA1-58C9-4BDF-AD62-7F11CFA1A162}">
      <dgm:prSet/>
      <dgm:spPr/>
      <dgm:t>
        <a:bodyPr/>
        <a:lstStyle/>
        <a:p>
          <a:endParaRPr lang="en-US"/>
        </a:p>
      </dgm:t>
    </dgm:pt>
    <dgm:pt modelId="{545BA802-CF9A-4C72-AACD-EDB41222EB66}">
      <dgm:prSet/>
      <dgm:spPr/>
      <dgm:t>
        <a:bodyPr/>
        <a:lstStyle/>
        <a:p>
          <a:pPr>
            <a:defRPr cap="all"/>
          </a:pPr>
          <a:r>
            <a:rPr lang="en-US" b="0" i="0" dirty="0"/>
            <a:t>Average delivery time of 4 days indicates efficient logistics operations.</a:t>
          </a:r>
          <a:endParaRPr lang="en-US" dirty="0"/>
        </a:p>
      </dgm:t>
    </dgm:pt>
    <dgm:pt modelId="{E1E3AC5C-1EC4-4E23-B0F9-CB560EF96C5E}" type="parTrans" cxnId="{2252ACDC-E2CD-4902-B9B4-CA694082FB67}">
      <dgm:prSet/>
      <dgm:spPr/>
      <dgm:t>
        <a:bodyPr/>
        <a:lstStyle/>
        <a:p>
          <a:endParaRPr lang="en-US"/>
        </a:p>
      </dgm:t>
    </dgm:pt>
    <dgm:pt modelId="{D60B7A05-34D5-4598-9DCA-8730048D3CCB}" type="sibTrans" cxnId="{2252ACDC-E2CD-4902-B9B4-CA694082FB67}">
      <dgm:prSet/>
      <dgm:spPr/>
      <dgm:t>
        <a:bodyPr/>
        <a:lstStyle/>
        <a:p>
          <a:endParaRPr lang="en-US"/>
        </a:p>
      </dgm:t>
    </dgm:pt>
    <dgm:pt modelId="{6B0AE236-FDD3-444E-AA09-88D72DE3D7A3}">
      <dgm:prSet/>
      <dgm:spPr/>
      <dgm:t>
        <a:bodyPr/>
        <a:lstStyle/>
        <a:p>
          <a:pPr>
            <a:defRPr cap="all"/>
          </a:pPr>
          <a:r>
            <a:rPr lang="en-US" b="0" i="0"/>
            <a:t>Sales growth pattern shows consistent year-on-year improvement across months.</a:t>
          </a:r>
          <a:endParaRPr lang="en-US"/>
        </a:p>
      </dgm:t>
    </dgm:pt>
    <dgm:pt modelId="{75C956A4-6E52-47A2-AB61-2EF9A6A8BC47}" type="parTrans" cxnId="{79E936B7-2529-4766-BD20-638B8C264A2F}">
      <dgm:prSet/>
      <dgm:spPr/>
      <dgm:t>
        <a:bodyPr/>
        <a:lstStyle/>
        <a:p>
          <a:endParaRPr lang="en-US"/>
        </a:p>
      </dgm:t>
    </dgm:pt>
    <dgm:pt modelId="{0F751FCA-AE96-4356-AE52-439889ED50EE}" type="sibTrans" cxnId="{79E936B7-2529-4766-BD20-638B8C264A2F}">
      <dgm:prSet/>
      <dgm:spPr/>
      <dgm:t>
        <a:bodyPr/>
        <a:lstStyle/>
        <a:p>
          <a:endParaRPr lang="en-US"/>
        </a:p>
      </dgm:t>
    </dgm:pt>
    <dgm:pt modelId="{A421CA00-16D2-49AC-A3C9-DFDB27ABE40D}" type="pres">
      <dgm:prSet presAssocID="{7F00097D-76AF-43A7-B027-8FA01F79E1E4}" presName="root" presStyleCnt="0">
        <dgm:presLayoutVars>
          <dgm:dir/>
          <dgm:resizeHandles val="exact"/>
        </dgm:presLayoutVars>
      </dgm:prSet>
      <dgm:spPr/>
    </dgm:pt>
    <dgm:pt modelId="{7B825BDA-756C-4AE2-B2C6-1005DC765C71}" type="pres">
      <dgm:prSet presAssocID="{0A4AFDF4-1DD1-44A0-9879-E85E5F2C2D05}" presName="compNode" presStyleCnt="0"/>
      <dgm:spPr/>
    </dgm:pt>
    <dgm:pt modelId="{D200E76B-170F-4EB3-B053-017ED77DBE77}" type="pres">
      <dgm:prSet presAssocID="{0A4AFDF4-1DD1-44A0-9879-E85E5F2C2D05}" presName="iconBgRect" presStyleLbl="bgShp" presStyleIdx="0" presStyleCnt="6"/>
      <dgm:spPr/>
    </dgm:pt>
    <dgm:pt modelId="{137E01D5-A50C-4099-BBD4-1518FD9475D5}" type="pres">
      <dgm:prSet presAssocID="{0A4AFDF4-1DD1-44A0-9879-E85E5F2C2D05}"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E195B679-E704-4A02-8C42-1BDA9B1194D3}" type="pres">
      <dgm:prSet presAssocID="{0A4AFDF4-1DD1-44A0-9879-E85E5F2C2D05}" presName="spaceRect" presStyleCnt="0"/>
      <dgm:spPr/>
    </dgm:pt>
    <dgm:pt modelId="{B62AB62D-543D-44BB-8438-5ACBCA3A0806}" type="pres">
      <dgm:prSet presAssocID="{0A4AFDF4-1DD1-44A0-9879-E85E5F2C2D05}" presName="textRect" presStyleLbl="revTx" presStyleIdx="0" presStyleCnt="6">
        <dgm:presLayoutVars>
          <dgm:chMax val="1"/>
          <dgm:chPref val="1"/>
        </dgm:presLayoutVars>
      </dgm:prSet>
      <dgm:spPr/>
    </dgm:pt>
    <dgm:pt modelId="{ECDE9E24-3180-471E-91B8-039B32279DE9}" type="pres">
      <dgm:prSet presAssocID="{5EF5176D-E844-4A5C-9B9C-7C0697693D38}" presName="sibTrans" presStyleCnt="0"/>
      <dgm:spPr/>
    </dgm:pt>
    <dgm:pt modelId="{FAADEDB4-B5A8-4210-A8C5-5235AF554A76}" type="pres">
      <dgm:prSet presAssocID="{A5E85E8B-CCA3-4314-B38F-23224ED4760E}" presName="compNode" presStyleCnt="0"/>
      <dgm:spPr/>
    </dgm:pt>
    <dgm:pt modelId="{B76F948A-3DBD-42EB-9496-30CE3504F312}" type="pres">
      <dgm:prSet presAssocID="{A5E85E8B-CCA3-4314-B38F-23224ED4760E}" presName="iconBgRect" presStyleLbl="bgShp" presStyleIdx="1" presStyleCnt="6"/>
      <dgm:spPr/>
    </dgm:pt>
    <dgm:pt modelId="{B3EF76B9-7005-4E1F-803D-46C958C00189}" type="pres">
      <dgm:prSet presAssocID="{A5E85E8B-CCA3-4314-B38F-23224ED4760E}"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p compass"/>
        </a:ext>
      </dgm:extLst>
    </dgm:pt>
    <dgm:pt modelId="{941B3BFE-A9A1-4148-A555-B87C50C6C9B6}" type="pres">
      <dgm:prSet presAssocID="{A5E85E8B-CCA3-4314-B38F-23224ED4760E}" presName="spaceRect" presStyleCnt="0"/>
      <dgm:spPr/>
    </dgm:pt>
    <dgm:pt modelId="{8DB3DBC5-DD00-400F-96B8-B10877B9C58C}" type="pres">
      <dgm:prSet presAssocID="{A5E85E8B-CCA3-4314-B38F-23224ED4760E}" presName="textRect" presStyleLbl="revTx" presStyleIdx="1" presStyleCnt="6">
        <dgm:presLayoutVars>
          <dgm:chMax val="1"/>
          <dgm:chPref val="1"/>
        </dgm:presLayoutVars>
      </dgm:prSet>
      <dgm:spPr/>
    </dgm:pt>
    <dgm:pt modelId="{140FC1A2-E4A4-4BFD-94EB-5A92EF27DF0C}" type="pres">
      <dgm:prSet presAssocID="{B7780EA7-0113-4033-B3B3-02A8A56C98C4}" presName="sibTrans" presStyleCnt="0"/>
      <dgm:spPr/>
    </dgm:pt>
    <dgm:pt modelId="{64D84BF7-B1E1-4284-9EB2-CBE94CBF32F5}" type="pres">
      <dgm:prSet presAssocID="{E75BEFBC-B13F-4F84-A91C-D2AE54F9EC7E}" presName="compNode" presStyleCnt="0"/>
      <dgm:spPr/>
    </dgm:pt>
    <dgm:pt modelId="{97F1EE87-9AF8-4295-8871-34D0F136451B}" type="pres">
      <dgm:prSet presAssocID="{E75BEFBC-B13F-4F84-A91C-D2AE54F9EC7E}" presName="iconBgRect" presStyleLbl="bgShp" presStyleIdx="2" presStyleCnt="6"/>
      <dgm:spPr/>
    </dgm:pt>
    <dgm:pt modelId="{BAC3BBC6-278B-4B52-8D32-823535161170}" type="pres">
      <dgm:prSet presAssocID="{E75BEFBC-B13F-4F84-A91C-D2AE54F9EC7E}"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o Smoking"/>
        </a:ext>
      </dgm:extLst>
    </dgm:pt>
    <dgm:pt modelId="{09682AD1-102D-4110-812C-8EBE721491A7}" type="pres">
      <dgm:prSet presAssocID="{E75BEFBC-B13F-4F84-A91C-D2AE54F9EC7E}" presName="spaceRect" presStyleCnt="0"/>
      <dgm:spPr/>
    </dgm:pt>
    <dgm:pt modelId="{E852573C-1123-443A-AC4C-277D1D50B8DF}" type="pres">
      <dgm:prSet presAssocID="{E75BEFBC-B13F-4F84-A91C-D2AE54F9EC7E}" presName="textRect" presStyleLbl="revTx" presStyleIdx="2" presStyleCnt="6">
        <dgm:presLayoutVars>
          <dgm:chMax val="1"/>
          <dgm:chPref val="1"/>
        </dgm:presLayoutVars>
      </dgm:prSet>
      <dgm:spPr/>
    </dgm:pt>
    <dgm:pt modelId="{01254EFA-4E8F-4CBC-82E0-4316BEE7A644}" type="pres">
      <dgm:prSet presAssocID="{A0F354E2-BACA-451A-A160-8D9EB2C5ED43}" presName="sibTrans" presStyleCnt="0"/>
      <dgm:spPr/>
    </dgm:pt>
    <dgm:pt modelId="{DA125A86-F1D5-4EBB-BA09-1217193E0BA0}" type="pres">
      <dgm:prSet presAssocID="{80931607-649C-451B-8624-FF7F560C10BD}" presName="compNode" presStyleCnt="0"/>
      <dgm:spPr/>
    </dgm:pt>
    <dgm:pt modelId="{AC88DCC3-32ED-4E8C-AFFD-54E6E5D225D5}" type="pres">
      <dgm:prSet presAssocID="{80931607-649C-451B-8624-FF7F560C10BD}" presName="iconBgRect" presStyleLbl="bgShp" presStyleIdx="3" presStyleCnt="6"/>
      <dgm:spPr/>
    </dgm:pt>
    <dgm:pt modelId="{C0C735E0-16A5-4EEE-9894-3A287A7D0DCF}" type="pres">
      <dgm:prSet presAssocID="{80931607-649C-451B-8624-FF7F560C10BD}"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Anchor"/>
        </a:ext>
      </dgm:extLst>
    </dgm:pt>
    <dgm:pt modelId="{1BB9763B-8862-48EF-8379-9FC023F8D46B}" type="pres">
      <dgm:prSet presAssocID="{80931607-649C-451B-8624-FF7F560C10BD}" presName="spaceRect" presStyleCnt="0"/>
      <dgm:spPr/>
    </dgm:pt>
    <dgm:pt modelId="{592FC0A7-793D-4BC6-93AF-DF58E6D8B5BA}" type="pres">
      <dgm:prSet presAssocID="{80931607-649C-451B-8624-FF7F560C10BD}" presName="textRect" presStyleLbl="revTx" presStyleIdx="3" presStyleCnt="6">
        <dgm:presLayoutVars>
          <dgm:chMax val="1"/>
          <dgm:chPref val="1"/>
        </dgm:presLayoutVars>
      </dgm:prSet>
      <dgm:spPr/>
    </dgm:pt>
    <dgm:pt modelId="{65390FE0-12DC-46B6-9EC7-BB5B2506A0F2}" type="pres">
      <dgm:prSet presAssocID="{1141D5ED-7011-4488-B273-79427D62175C}" presName="sibTrans" presStyleCnt="0"/>
      <dgm:spPr/>
    </dgm:pt>
    <dgm:pt modelId="{E0AC2B5D-9A41-4AD5-A9E0-2997416DB5B7}" type="pres">
      <dgm:prSet presAssocID="{545BA802-CF9A-4C72-AACD-EDB41222EB66}" presName="compNode" presStyleCnt="0"/>
      <dgm:spPr/>
    </dgm:pt>
    <dgm:pt modelId="{81E4C597-0F97-4B29-8601-E4E7217E07F6}" type="pres">
      <dgm:prSet presAssocID="{545BA802-CF9A-4C72-AACD-EDB41222EB66}" presName="iconBgRect" presStyleLbl="bgShp" presStyleIdx="4" presStyleCnt="6"/>
      <dgm:spPr/>
    </dgm:pt>
    <dgm:pt modelId="{369DB62B-55C1-493C-BA7C-983F633535BD}" type="pres">
      <dgm:prSet presAssocID="{545BA802-CF9A-4C72-AACD-EDB41222EB66}"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ox"/>
        </a:ext>
      </dgm:extLst>
    </dgm:pt>
    <dgm:pt modelId="{7C71D6BE-E4FC-4592-AC40-38055C3E6459}" type="pres">
      <dgm:prSet presAssocID="{545BA802-CF9A-4C72-AACD-EDB41222EB66}" presName="spaceRect" presStyleCnt="0"/>
      <dgm:spPr/>
    </dgm:pt>
    <dgm:pt modelId="{56F411D0-B92D-49A0-A986-5E79404789EA}" type="pres">
      <dgm:prSet presAssocID="{545BA802-CF9A-4C72-AACD-EDB41222EB66}" presName="textRect" presStyleLbl="revTx" presStyleIdx="4" presStyleCnt="6">
        <dgm:presLayoutVars>
          <dgm:chMax val="1"/>
          <dgm:chPref val="1"/>
        </dgm:presLayoutVars>
      </dgm:prSet>
      <dgm:spPr/>
    </dgm:pt>
    <dgm:pt modelId="{BCAEB413-C87C-404B-84EB-BDB33C2F9369}" type="pres">
      <dgm:prSet presAssocID="{D60B7A05-34D5-4598-9DCA-8730048D3CCB}" presName="sibTrans" presStyleCnt="0"/>
      <dgm:spPr/>
    </dgm:pt>
    <dgm:pt modelId="{DD1FC267-1039-4A4E-B552-B6A526F79E0F}" type="pres">
      <dgm:prSet presAssocID="{6B0AE236-FDD3-444E-AA09-88D72DE3D7A3}" presName="compNode" presStyleCnt="0"/>
      <dgm:spPr/>
    </dgm:pt>
    <dgm:pt modelId="{A75C0A0E-B8E0-4278-B0A1-EFAE37063982}" type="pres">
      <dgm:prSet presAssocID="{6B0AE236-FDD3-444E-AA09-88D72DE3D7A3}" presName="iconBgRect" presStyleLbl="bgShp" presStyleIdx="5" presStyleCnt="6"/>
      <dgm:spPr/>
    </dgm:pt>
    <dgm:pt modelId="{E5ECA447-B9E5-4C39-81D0-2A30302E012A}" type="pres">
      <dgm:prSet presAssocID="{6B0AE236-FDD3-444E-AA09-88D72DE3D7A3}"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usiness Growth"/>
        </a:ext>
      </dgm:extLst>
    </dgm:pt>
    <dgm:pt modelId="{87743716-EF78-42B6-A991-D6FA1075DFA9}" type="pres">
      <dgm:prSet presAssocID="{6B0AE236-FDD3-444E-AA09-88D72DE3D7A3}" presName="spaceRect" presStyleCnt="0"/>
      <dgm:spPr/>
    </dgm:pt>
    <dgm:pt modelId="{1D2F441C-9A4E-4B81-9149-2FC3D96300BB}" type="pres">
      <dgm:prSet presAssocID="{6B0AE236-FDD3-444E-AA09-88D72DE3D7A3}" presName="textRect" presStyleLbl="revTx" presStyleIdx="5" presStyleCnt="6">
        <dgm:presLayoutVars>
          <dgm:chMax val="1"/>
          <dgm:chPref val="1"/>
        </dgm:presLayoutVars>
      </dgm:prSet>
      <dgm:spPr/>
    </dgm:pt>
  </dgm:ptLst>
  <dgm:cxnLst>
    <dgm:cxn modelId="{ED209340-EF2B-4EAE-8796-2C48F7D0D288}" type="presOf" srcId="{E75BEFBC-B13F-4F84-A91C-D2AE54F9EC7E}" destId="{E852573C-1123-443A-AC4C-277D1D50B8DF}" srcOrd="0" destOrd="0" presId="urn:microsoft.com/office/officeart/2018/5/layout/IconCircleLabelList"/>
    <dgm:cxn modelId="{523CC971-E46E-4D51-AD2F-918EF3C7889D}" srcId="{7F00097D-76AF-43A7-B027-8FA01F79E1E4}" destId="{A5E85E8B-CCA3-4314-B38F-23224ED4760E}" srcOrd="1" destOrd="0" parTransId="{A7FFEDC5-54D2-4A5C-B335-BA48A6B89D2F}" sibTransId="{B7780EA7-0113-4033-B3B3-02A8A56C98C4}"/>
    <dgm:cxn modelId="{589B0F8F-6C67-4EB1-BF6E-C592634EB473}" srcId="{7F00097D-76AF-43A7-B027-8FA01F79E1E4}" destId="{0A4AFDF4-1DD1-44A0-9879-E85E5F2C2D05}" srcOrd="0" destOrd="0" parTransId="{81D54325-BCFA-4568-8D04-EF2DB7EC4647}" sibTransId="{5EF5176D-E844-4A5C-9B9C-7C0697693D38}"/>
    <dgm:cxn modelId="{39183CA1-58C9-4BDF-AD62-7F11CFA1A162}" srcId="{7F00097D-76AF-43A7-B027-8FA01F79E1E4}" destId="{80931607-649C-451B-8624-FF7F560C10BD}" srcOrd="3" destOrd="0" parTransId="{C3CFE6FB-56C9-4F7F-9C39-CCE1829EAE89}" sibTransId="{1141D5ED-7011-4488-B273-79427D62175C}"/>
    <dgm:cxn modelId="{3D0BDDAB-7C09-4CFA-A902-D9EC3BA5B823}" type="presOf" srcId="{80931607-649C-451B-8624-FF7F560C10BD}" destId="{592FC0A7-793D-4BC6-93AF-DF58E6D8B5BA}" srcOrd="0" destOrd="0" presId="urn:microsoft.com/office/officeart/2018/5/layout/IconCircleLabelList"/>
    <dgm:cxn modelId="{79E936B7-2529-4766-BD20-638B8C264A2F}" srcId="{7F00097D-76AF-43A7-B027-8FA01F79E1E4}" destId="{6B0AE236-FDD3-444E-AA09-88D72DE3D7A3}" srcOrd="5" destOrd="0" parTransId="{75C956A4-6E52-47A2-AB61-2EF9A6A8BC47}" sibTransId="{0F751FCA-AE96-4356-AE52-439889ED50EE}"/>
    <dgm:cxn modelId="{8BD957BA-8B75-484C-9558-BC1D33F7C803}" type="presOf" srcId="{A5E85E8B-CCA3-4314-B38F-23224ED4760E}" destId="{8DB3DBC5-DD00-400F-96B8-B10877B9C58C}" srcOrd="0" destOrd="0" presId="urn:microsoft.com/office/officeart/2018/5/layout/IconCircleLabelList"/>
    <dgm:cxn modelId="{C2AAEAC6-48FB-455D-9EED-D357983E69CF}" type="presOf" srcId="{6B0AE236-FDD3-444E-AA09-88D72DE3D7A3}" destId="{1D2F441C-9A4E-4B81-9149-2FC3D96300BB}" srcOrd="0" destOrd="0" presId="urn:microsoft.com/office/officeart/2018/5/layout/IconCircleLabelList"/>
    <dgm:cxn modelId="{1EF339CB-E1CA-40D6-918C-1BB4BA97ABD2}" srcId="{7F00097D-76AF-43A7-B027-8FA01F79E1E4}" destId="{E75BEFBC-B13F-4F84-A91C-D2AE54F9EC7E}" srcOrd="2" destOrd="0" parTransId="{85335EFD-7494-40A4-8A67-39376CFD1D6F}" sibTransId="{A0F354E2-BACA-451A-A160-8D9EB2C5ED43}"/>
    <dgm:cxn modelId="{77B2E3D6-2BA4-400E-A00A-C7F57F5689C0}" type="presOf" srcId="{0A4AFDF4-1DD1-44A0-9879-E85E5F2C2D05}" destId="{B62AB62D-543D-44BB-8438-5ACBCA3A0806}" srcOrd="0" destOrd="0" presId="urn:microsoft.com/office/officeart/2018/5/layout/IconCircleLabelList"/>
    <dgm:cxn modelId="{A13A11D8-7DAD-4464-B68A-005B2D58821E}" type="presOf" srcId="{7F00097D-76AF-43A7-B027-8FA01F79E1E4}" destId="{A421CA00-16D2-49AC-A3C9-DFDB27ABE40D}" srcOrd="0" destOrd="0" presId="urn:microsoft.com/office/officeart/2018/5/layout/IconCircleLabelList"/>
    <dgm:cxn modelId="{2252ACDC-E2CD-4902-B9B4-CA694082FB67}" srcId="{7F00097D-76AF-43A7-B027-8FA01F79E1E4}" destId="{545BA802-CF9A-4C72-AACD-EDB41222EB66}" srcOrd="4" destOrd="0" parTransId="{E1E3AC5C-1EC4-4E23-B0F9-CB560EF96C5E}" sibTransId="{D60B7A05-34D5-4598-9DCA-8730048D3CCB}"/>
    <dgm:cxn modelId="{C953EBF9-BB6F-4A08-95D7-5D9F08054EA3}" type="presOf" srcId="{545BA802-CF9A-4C72-AACD-EDB41222EB66}" destId="{56F411D0-B92D-49A0-A986-5E79404789EA}" srcOrd="0" destOrd="0" presId="urn:microsoft.com/office/officeart/2018/5/layout/IconCircleLabelList"/>
    <dgm:cxn modelId="{AEA3AC93-6149-47B4-8C32-3B1B1F616A45}" type="presParOf" srcId="{A421CA00-16D2-49AC-A3C9-DFDB27ABE40D}" destId="{7B825BDA-756C-4AE2-B2C6-1005DC765C71}" srcOrd="0" destOrd="0" presId="urn:microsoft.com/office/officeart/2018/5/layout/IconCircleLabelList"/>
    <dgm:cxn modelId="{F2395063-1A1A-4623-BE08-40CA89EC24AE}" type="presParOf" srcId="{7B825BDA-756C-4AE2-B2C6-1005DC765C71}" destId="{D200E76B-170F-4EB3-B053-017ED77DBE77}" srcOrd="0" destOrd="0" presId="urn:microsoft.com/office/officeart/2018/5/layout/IconCircleLabelList"/>
    <dgm:cxn modelId="{02A7F1AA-A6A9-4C26-B0FB-EDD1C691A60C}" type="presParOf" srcId="{7B825BDA-756C-4AE2-B2C6-1005DC765C71}" destId="{137E01D5-A50C-4099-BBD4-1518FD9475D5}" srcOrd="1" destOrd="0" presId="urn:microsoft.com/office/officeart/2018/5/layout/IconCircleLabelList"/>
    <dgm:cxn modelId="{66855A1D-7175-4D4E-96F5-BACAA4497719}" type="presParOf" srcId="{7B825BDA-756C-4AE2-B2C6-1005DC765C71}" destId="{E195B679-E704-4A02-8C42-1BDA9B1194D3}" srcOrd="2" destOrd="0" presId="urn:microsoft.com/office/officeart/2018/5/layout/IconCircleLabelList"/>
    <dgm:cxn modelId="{EBA0373A-2FA0-4173-A398-9685683A92A1}" type="presParOf" srcId="{7B825BDA-756C-4AE2-B2C6-1005DC765C71}" destId="{B62AB62D-543D-44BB-8438-5ACBCA3A0806}" srcOrd="3" destOrd="0" presId="urn:microsoft.com/office/officeart/2018/5/layout/IconCircleLabelList"/>
    <dgm:cxn modelId="{BC5C1226-C8DD-497F-9F58-2D6E7ADF6C86}" type="presParOf" srcId="{A421CA00-16D2-49AC-A3C9-DFDB27ABE40D}" destId="{ECDE9E24-3180-471E-91B8-039B32279DE9}" srcOrd="1" destOrd="0" presId="urn:microsoft.com/office/officeart/2018/5/layout/IconCircleLabelList"/>
    <dgm:cxn modelId="{1DFC0D75-22AE-4536-BA70-6D5004CEC5CC}" type="presParOf" srcId="{A421CA00-16D2-49AC-A3C9-DFDB27ABE40D}" destId="{FAADEDB4-B5A8-4210-A8C5-5235AF554A76}" srcOrd="2" destOrd="0" presId="urn:microsoft.com/office/officeart/2018/5/layout/IconCircleLabelList"/>
    <dgm:cxn modelId="{FA27728D-F86E-437E-AE1F-4FD20AF555A6}" type="presParOf" srcId="{FAADEDB4-B5A8-4210-A8C5-5235AF554A76}" destId="{B76F948A-3DBD-42EB-9496-30CE3504F312}" srcOrd="0" destOrd="0" presId="urn:microsoft.com/office/officeart/2018/5/layout/IconCircleLabelList"/>
    <dgm:cxn modelId="{DCDF870D-1460-4403-85BA-E6EC08466571}" type="presParOf" srcId="{FAADEDB4-B5A8-4210-A8C5-5235AF554A76}" destId="{B3EF76B9-7005-4E1F-803D-46C958C00189}" srcOrd="1" destOrd="0" presId="urn:microsoft.com/office/officeart/2018/5/layout/IconCircleLabelList"/>
    <dgm:cxn modelId="{7BEBFB1B-E3EB-4EA1-B971-45E90789B47C}" type="presParOf" srcId="{FAADEDB4-B5A8-4210-A8C5-5235AF554A76}" destId="{941B3BFE-A9A1-4148-A555-B87C50C6C9B6}" srcOrd="2" destOrd="0" presId="urn:microsoft.com/office/officeart/2018/5/layout/IconCircleLabelList"/>
    <dgm:cxn modelId="{492E9B7B-503A-4A07-98A4-C2E3A3AC2B3F}" type="presParOf" srcId="{FAADEDB4-B5A8-4210-A8C5-5235AF554A76}" destId="{8DB3DBC5-DD00-400F-96B8-B10877B9C58C}" srcOrd="3" destOrd="0" presId="urn:microsoft.com/office/officeart/2018/5/layout/IconCircleLabelList"/>
    <dgm:cxn modelId="{9616CC90-43F9-4B61-A997-08B6E96AFDD2}" type="presParOf" srcId="{A421CA00-16D2-49AC-A3C9-DFDB27ABE40D}" destId="{140FC1A2-E4A4-4BFD-94EB-5A92EF27DF0C}" srcOrd="3" destOrd="0" presId="urn:microsoft.com/office/officeart/2018/5/layout/IconCircleLabelList"/>
    <dgm:cxn modelId="{CBDE9351-A604-40AA-A0B1-C9C4517FBF31}" type="presParOf" srcId="{A421CA00-16D2-49AC-A3C9-DFDB27ABE40D}" destId="{64D84BF7-B1E1-4284-9EB2-CBE94CBF32F5}" srcOrd="4" destOrd="0" presId="urn:microsoft.com/office/officeart/2018/5/layout/IconCircleLabelList"/>
    <dgm:cxn modelId="{C17978A6-5F78-485E-9FB5-0300200CF0BB}" type="presParOf" srcId="{64D84BF7-B1E1-4284-9EB2-CBE94CBF32F5}" destId="{97F1EE87-9AF8-4295-8871-34D0F136451B}" srcOrd="0" destOrd="0" presId="urn:microsoft.com/office/officeart/2018/5/layout/IconCircleLabelList"/>
    <dgm:cxn modelId="{E42A7839-E825-4710-A0EB-77500D7B4903}" type="presParOf" srcId="{64D84BF7-B1E1-4284-9EB2-CBE94CBF32F5}" destId="{BAC3BBC6-278B-4B52-8D32-823535161170}" srcOrd="1" destOrd="0" presId="urn:microsoft.com/office/officeart/2018/5/layout/IconCircleLabelList"/>
    <dgm:cxn modelId="{5EC257BB-56FE-49EC-87DA-31CB2C34F94D}" type="presParOf" srcId="{64D84BF7-B1E1-4284-9EB2-CBE94CBF32F5}" destId="{09682AD1-102D-4110-812C-8EBE721491A7}" srcOrd="2" destOrd="0" presId="urn:microsoft.com/office/officeart/2018/5/layout/IconCircleLabelList"/>
    <dgm:cxn modelId="{E7266BF8-F7D6-4AC5-A3D7-B2B4DF6D7714}" type="presParOf" srcId="{64D84BF7-B1E1-4284-9EB2-CBE94CBF32F5}" destId="{E852573C-1123-443A-AC4C-277D1D50B8DF}" srcOrd="3" destOrd="0" presId="urn:microsoft.com/office/officeart/2018/5/layout/IconCircleLabelList"/>
    <dgm:cxn modelId="{BE03A494-92A0-4E23-A380-A266192555E6}" type="presParOf" srcId="{A421CA00-16D2-49AC-A3C9-DFDB27ABE40D}" destId="{01254EFA-4E8F-4CBC-82E0-4316BEE7A644}" srcOrd="5" destOrd="0" presId="urn:microsoft.com/office/officeart/2018/5/layout/IconCircleLabelList"/>
    <dgm:cxn modelId="{9D1D9A20-528C-4662-9B39-D412582FB3C6}" type="presParOf" srcId="{A421CA00-16D2-49AC-A3C9-DFDB27ABE40D}" destId="{DA125A86-F1D5-4EBB-BA09-1217193E0BA0}" srcOrd="6" destOrd="0" presId="urn:microsoft.com/office/officeart/2018/5/layout/IconCircleLabelList"/>
    <dgm:cxn modelId="{641E03B5-63F5-4985-B989-54B4C43C70AE}" type="presParOf" srcId="{DA125A86-F1D5-4EBB-BA09-1217193E0BA0}" destId="{AC88DCC3-32ED-4E8C-AFFD-54E6E5D225D5}" srcOrd="0" destOrd="0" presId="urn:microsoft.com/office/officeart/2018/5/layout/IconCircleLabelList"/>
    <dgm:cxn modelId="{C630D82A-5F0E-4E71-BC08-2DCC5E40F897}" type="presParOf" srcId="{DA125A86-F1D5-4EBB-BA09-1217193E0BA0}" destId="{C0C735E0-16A5-4EEE-9894-3A287A7D0DCF}" srcOrd="1" destOrd="0" presId="urn:microsoft.com/office/officeart/2018/5/layout/IconCircleLabelList"/>
    <dgm:cxn modelId="{080C5E59-3811-44D8-8603-83ECCCDE9C3F}" type="presParOf" srcId="{DA125A86-F1D5-4EBB-BA09-1217193E0BA0}" destId="{1BB9763B-8862-48EF-8379-9FC023F8D46B}" srcOrd="2" destOrd="0" presId="urn:microsoft.com/office/officeart/2018/5/layout/IconCircleLabelList"/>
    <dgm:cxn modelId="{FDEA764A-E469-4F58-AFB0-287C5218F82B}" type="presParOf" srcId="{DA125A86-F1D5-4EBB-BA09-1217193E0BA0}" destId="{592FC0A7-793D-4BC6-93AF-DF58E6D8B5BA}" srcOrd="3" destOrd="0" presId="urn:microsoft.com/office/officeart/2018/5/layout/IconCircleLabelList"/>
    <dgm:cxn modelId="{B74032A4-B3D4-423B-BD6E-382F9FB035BF}" type="presParOf" srcId="{A421CA00-16D2-49AC-A3C9-DFDB27ABE40D}" destId="{65390FE0-12DC-46B6-9EC7-BB5B2506A0F2}" srcOrd="7" destOrd="0" presId="urn:microsoft.com/office/officeart/2018/5/layout/IconCircleLabelList"/>
    <dgm:cxn modelId="{8A7E2A38-41F8-481A-BF20-E9067B5A38F6}" type="presParOf" srcId="{A421CA00-16D2-49AC-A3C9-DFDB27ABE40D}" destId="{E0AC2B5D-9A41-4AD5-A9E0-2997416DB5B7}" srcOrd="8" destOrd="0" presId="urn:microsoft.com/office/officeart/2018/5/layout/IconCircleLabelList"/>
    <dgm:cxn modelId="{9CAF92A7-6E37-4F91-B884-5BE810C913E5}" type="presParOf" srcId="{E0AC2B5D-9A41-4AD5-A9E0-2997416DB5B7}" destId="{81E4C597-0F97-4B29-8601-E4E7217E07F6}" srcOrd="0" destOrd="0" presId="urn:microsoft.com/office/officeart/2018/5/layout/IconCircleLabelList"/>
    <dgm:cxn modelId="{3D879E3C-A801-4652-9623-8074292DE3E4}" type="presParOf" srcId="{E0AC2B5D-9A41-4AD5-A9E0-2997416DB5B7}" destId="{369DB62B-55C1-493C-BA7C-983F633535BD}" srcOrd="1" destOrd="0" presId="urn:microsoft.com/office/officeart/2018/5/layout/IconCircleLabelList"/>
    <dgm:cxn modelId="{DA652972-B456-48BD-A5CE-A6899DD77123}" type="presParOf" srcId="{E0AC2B5D-9A41-4AD5-A9E0-2997416DB5B7}" destId="{7C71D6BE-E4FC-4592-AC40-38055C3E6459}" srcOrd="2" destOrd="0" presId="urn:microsoft.com/office/officeart/2018/5/layout/IconCircleLabelList"/>
    <dgm:cxn modelId="{F5996BD8-36DF-4765-A4F7-DFC695371FA2}" type="presParOf" srcId="{E0AC2B5D-9A41-4AD5-A9E0-2997416DB5B7}" destId="{56F411D0-B92D-49A0-A986-5E79404789EA}" srcOrd="3" destOrd="0" presId="urn:microsoft.com/office/officeart/2018/5/layout/IconCircleLabelList"/>
    <dgm:cxn modelId="{7F7D2F93-D533-49C7-8886-7506A120C429}" type="presParOf" srcId="{A421CA00-16D2-49AC-A3C9-DFDB27ABE40D}" destId="{BCAEB413-C87C-404B-84EB-BDB33C2F9369}" srcOrd="9" destOrd="0" presId="urn:microsoft.com/office/officeart/2018/5/layout/IconCircleLabelList"/>
    <dgm:cxn modelId="{DC925C9C-DDBB-43EC-BB79-6980383B3B4E}" type="presParOf" srcId="{A421CA00-16D2-49AC-A3C9-DFDB27ABE40D}" destId="{DD1FC267-1039-4A4E-B552-B6A526F79E0F}" srcOrd="10" destOrd="0" presId="urn:microsoft.com/office/officeart/2018/5/layout/IconCircleLabelList"/>
    <dgm:cxn modelId="{FD7E098C-8B85-4AA0-BEC0-B4D3639EB4E8}" type="presParOf" srcId="{DD1FC267-1039-4A4E-B552-B6A526F79E0F}" destId="{A75C0A0E-B8E0-4278-B0A1-EFAE37063982}" srcOrd="0" destOrd="0" presId="urn:microsoft.com/office/officeart/2018/5/layout/IconCircleLabelList"/>
    <dgm:cxn modelId="{4E9803A9-CDF2-45C4-8EDC-0738E8E1C131}" type="presParOf" srcId="{DD1FC267-1039-4A4E-B552-B6A526F79E0F}" destId="{E5ECA447-B9E5-4C39-81D0-2A30302E012A}" srcOrd="1" destOrd="0" presId="urn:microsoft.com/office/officeart/2018/5/layout/IconCircleLabelList"/>
    <dgm:cxn modelId="{A3C7F36F-08A9-40D9-A880-481043E3C3F8}" type="presParOf" srcId="{DD1FC267-1039-4A4E-B552-B6A526F79E0F}" destId="{87743716-EF78-42B6-A991-D6FA1075DFA9}" srcOrd="2" destOrd="0" presId="urn:microsoft.com/office/officeart/2018/5/layout/IconCircleLabelList"/>
    <dgm:cxn modelId="{D8FBCE6B-F484-4C5F-8822-ED6F4EEAA3BC}" type="presParOf" srcId="{DD1FC267-1039-4A4E-B552-B6A526F79E0F}" destId="{1D2F441C-9A4E-4B81-9149-2FC3D96300BB}"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B612E2-59AA-40EF-8616-F39B2B841017}" type="doc">
      <dgm:prSet loTypeId="urn:microsoft.com/office/officeart/2005/8/layout/chart3" loCatId="cycle" qsTypeId="urn:microsoft.com/office/officeart/2005/8/quickstyle/simple1" qsCatId="simple" csTypeId="urn:microsoft.com/office/officeart/2005/8/colors/colorful1" csCatId="colorful" phldr="1"/>
      <dgm:spPr/>
      <dgm:t>
        <a:bodyPr/>
        <a:lstStyle/>
        <a:p>
          <a:endParaRPr lang="en-US"/>
        </a:p>
      </dgm:t>
    </dgm:pt>
    <dgm:pt modelId="{52BA0F50-86E2-49A8-8511-097C02134951}">
      <dgm:prSet custT="1"/>
      <dgm:spPr/>
      <dgm:t>
        <a:bodyPr/>
        <a:lstStyle/>
        <a:p>
          <a:r>
            <a:rPr lang="en-US" sz="1100" b="0" i="0" dirty="0"/>
            <a:t>Technology category generates the highest revenue at $0.64M, followed by Office Supplies ($0.47M) and Furniture ($0.45M).</a:t>
          </a:r>
          <a:endParaRPr lang="en-US" sz="1100" dirty="0"/>
        </a:p>
      </dgm:t>
    </dgm:pt>
    <dgm:pt modelId="{DFADA70F-F1F4-40E0-A266-C5C59815AF40}" type="parTrans" cxnId="{AF4BD996-498D-47E5-A204-19330713E1C7}">
      <dgm:prSet/>
      <dgm:spPr/>
      <dgm:t>
        <a:bodyPr/>
        <a:lstStyle/>
        <a:p>
          <a:endParaRPr lang="en-US"/>
        </a:p>
      </dgm:t>
    </dgm:pt>
    <dgm:pt modelId="{28B17BA6-25B3-47E2-98EF-9EF77C12A07B}" type="sibTrans" cxnId="{AF4BD996-498D-47E5-A204-19330713E1C7}">
      <dgm:prSet/>
      <dgm:spPr/>
      <dgm:t>
        <a:bodyPr/>
        <a:lstStyle/>
        <a:p>
          <a:endParaRPr lang="en-US"/>
        </a:p>
      </dgm:t>
    </dgm:pt>
    <dgm:pt modelId="{44F91782-B138-4082-BA94-43128FC68017}">
      <dgm:prSet custT="1"/>
      <dgm:spPr/>
      <dgm:t>
        <a:bodyPr/>
        <a:lstStyle/>
        <a:p>
          <a:r>
            <a:rPr lang="en-US" sz="1100" b="0" i="0" dirty="0"/>
            <a:t>Top-performing sub-categories: Phones ($0.20M), Chairs ($0.18M), Binders ($0.17M), and Storage ($0.15M).</a:t>
          </a:r>
          <a:endParaRPr lang="en-US" sz="1100" dirty="0"/>
        </a:p>
      </dgm:t>
    </dgm:pt>
    <dgm:pt modelId="{47893E04-F3E2-4FA8-89BE-291A65500F3C}" type="parTrans" cxnId="{91A9A72E-1486-4162-AD09-BBACC81AE720}">
      <dgm:prSet/>
      <dgm:spPr/>
      <dgm:t>
        <a:bodyPr/>
        <a:lstStyle/>
        <a:p>
          <a:endParaRPr lang="en-US"/>
        </a:p>
      </dgm:t>
    </dgm:pt>
    <dgm:pt modelId="{6EBA36A2-967D-45E1-9D54-ECBBA9506F44}" type="sibTrans" cxnId="{91A9A72E-1486-4162-AD09-BBACC81AE720}">
      <dgm:prSet/>
      <dgm:spPr/>
      <dgm:t>
        <a:bodyPr/>
        <a:lstStyle/>
        <a:p>
          <a:endParaRPr lang="en-US"/>
        </a:p>
      </dgm:t>
    </dgm:pt>
    <dgm:pt modelId="{410DE7E5-02F3-4CF5-9C79-447991B1404D}">
      <dgm:prSet custT="1"/>
      <dgm:spPr/>
      <dgm:t>
        <a:bodyPr/>
        <a:lstStyle/>
        <a:p>
          <a:r>
            <a:rPr lang="en-US" sz="1200" b="0" i="0" dirty="0"/>
            <a:t>Standard class shipping dominates with $0.91M in sales – fast-moving category.</a:t>
          </a:r>
          <a:endParaRPr lang="en-US" sz="1200" dirty="0"/>
        </a:p>
      </dgm:t>
    </dgm:pt>
    <dgm:pt modelId="{B11D0060-FA03-4BD2-BE75-18F12B5E9689}" type="parTrans" cxnId="{E7891A4A-9A33-4995-A8F0-1F977125F007}">
      <dgm:prSet/>
      <dgm:spPr/>
      <dgm:t>
        <a:bodyPr/>
        <a:lstStyle/>
        <a:p>
          <a:endParaRPr lang="en-US"/>
        </a:p>
      </dgm:t>
    </dgm:pt>
    <dgm:pt modelId="{40254F39-CC01-457B-A01B-4E8095F51065}" type="sibTrans" cxnId="{E7891A4A-9A33-4995-A8F0-1F977125F007}">
      <dgm:prSet/>
      <dgm:spPr/>
      <dgm:t>
        <a:bodyPr/>
        <a:lstStyle/>
        <a:p>
          <a:endParaRPr lang="en-US"/>
        </a:p>
      </dgm:t>
    </dgm:pt>
    <dgm:pt modelId="{AD9EEB1B-69B4-43E9-A8B4-749397E7FFC6}">
      <dgm:prSet custT="1"/>
      <dgm:spPr/>
      <dgm:t>
        <a:bodyPr/>
        <a:lstStyle/>
        <a:p>
          <a:r>
            <a:rPr lang="en-US" sz="1200" b="0" i="0" dirty="0"/>
            <a:t>Strong product mix diversity with steady contribution from all categories.</a:t>
          </a:r>
          <a:endParaRPr lang="en-US" sz="1200" dirty="0"/>
        </a:p>
      </dgm:t>
    </dgm:pt>
    <dgm:pt modelId="{75610C18-97DC-4158-8B89-67EADBE5F8D1}" type="parTrans" cxnId="{0531C048-EC16-4EFB-A286-D81B528778C0}">
      <dgm:prSet/>
      <dgm:spPr/>
      <dgm:t>
        <a:bodyPr/>
        <a:lstStyle/>
        <a:p>
          <a:endParaRPr lang="en-US"/>
        </a:p>
      </dgm:t>
    </dgm:pt>
    <dgm:pt modelId="{5949930B-AB33-4FAA-AA6A-49C6673CD5E4}" type="sibTrans" cxnId="{0531C048-EC16-4EFB-A286-D81B528778C0}">
      <dgm:prSet/>
      <dgm:spPr/>
      <dgm:t>
        <a:bodyPr/>
        <a:lstStyle/>
        <a:p>
          <a:endParaRPr lang="en-US"/>
        </a:p>
      </dgm:t>
    </dgm:pt>
    <dgm:pt modelId="{F55EFB56-90D5-4430-AF97-1143EB9EADC3}">
      <dgm:prSet custT="1"/>
      <dgm:spPr/>
      <dgm:t>
        <a:bodyPr/>
        <a:lstStyle/>
        <a:p>
          <a:r>
            <a:rPr lang="en-US" sz="1200" b="0" i="0" dirty="0"/>
            <a:t>Profitability trends show peaks in Q2 and Q4 – linked to seasonal demand cycles.</a:t>
          </a:r>
          <a:endParaRPr lang="en-US" sz="1200" dirty="0"/>
        </a:p>
      </dgm:t>
    </dgm:pt>
    <dgm:pt modelId="{0425E4FC-5FC6-460F-ACFC-C6B16319DD42}" type="parTrans" cxnId="{6D782588-F967-45B3-B6F0-73E4C7A9554E}">
      <dgm:prSet/>
      <dgm:spPr/>
      <dgm:t>
        <a:bodyPr/>
        <a:lstStyle/>
        <a:p>
          <a:endParaRPr lang="en-US"/>
        </a:p>
      </dgm:t>
    </dgm:pt>
    <dgm:pt modelId="{3AFF4585-6EEE-4886-8444-D3E798B19841}" type="sibTrans" cxnId="{6D782588-F967-45B3-B6F0-73E4C7A9554E}">
      <dgm:prSet/>
      <dgm:spPr/>
      <dgm:t>
        <a:bodyPr/>
        <a:lstStyle/>
        <a:p>
          <a:endParaRPr lang="en-US"/>
        </a:p>
      </dgm:t>
    </dgm:pt>
    <dgm:pt modelId="{C9A3B075-46C3-4727-9E8E-ED8C7CAE4FD5}" type="pres">
      <dgm:prSet presAssocID="{E5B612E2-59AA-40EF-8616-F39B2B841017}" presName="compositeShape" presStyleCnt="0">
        <dgm:presLayoutVars>
          <dgm:chMax val="7"/>
          <dgm:dir/>
          <dgm:resizeHandles val="exact"/>
        </dgm:presLayoutVars>
      </dgm:prSet>
      <dgm:spPr/>
    </dgm:pt>
    <dgm:pt modelId="{6DC7D5B8-E4FC-4C08-8A25-BD37B2FA746B}" type="pres">
      <dgm:prSet presAssocID="{E5B612E2-59AA-40EF-8616-F39B2B841017}" presName="wedge1" presStyleLbl="node1" presStyleIdx="0" presStyleCnt="5"/>
      <dgm:spPr/>
    </dgm:pt>
    <dgm:pt modelId="{DBEE847B-76D0-402A-9292-1E9D32CD5F64}" type="pres">
      <dgm:prSet presAssocID="{E5B612E2-59AA-40EF-8616-F39B2B841017}" presName="wedge1Tx" presStyleLbl="node1" presStyleIdx="0" presStyleCnt="5">
        <dgm:presLayoutVars>
          <dgm:chMax val="0"/>
          <dgm:chPref val="0"/>
          <dgm:bulletEnabled val="1"/>
        </dgm:presLayoutVars>
      </dgm:prSet>
      <dgm:spPr/>
    </dgm:pt>
    <dgm:pt modelId="{E956E139-5FEC-4D4E-93DB-D07D9CEA1554}" type="pres">
      <dgm:prSet presAssocID="{E5B612E2-59AA-40EF-8616-F39B2B841017}" presName="wedge2" presStyleLbl="node1" presStyleIdx="1" presStyleCnt="5"/>
      <dgm:spPr/>
    </dgm:pt>
    <dgm:pt modelId="{86240213-3BFD-4A5C-866C-2489BBAA6D21}" type="pres">
      <dgm:prSet presAssocID="{E5B612E2-59AA-40EF-8616-F39B2B841017}" presName="wedge2Tx" presStyleLbl="node1" presStyleIdx="1" presStyleCnt="5">
        <dgm:presLayoutVars>
          <dgm:chMax val="0"/>
          <dgm:chPref val="0"/>
          <dgm:bulletEnabled val="1"/>
        </dgm:presLayoutVars>
      </dgm:prSet>
      <dgm:spPr/>
    </dgm:pt>
    <dgm:pt modelId="{D190833E-28BA-45E9-9440-185FB6B4618C}" type="pres">
      <dgm:prSet presAssocID="{E5B612E2-59AA-40EF-8616-F39B2B841017}" presName="wedge3" presStyleLbl="node1" presStyleIdx="2" presStyleCnt="5"/>
      <dgm:spPr/>
    </dgm:pt>
    <dgm:pt modelId="{EB7013D5-6300-4402-863C-A9684A60F1A9}" type="pres">
      <dgm:prSet presAssocID="{E5B612E2-59AA-40EF-8616-F39B2B841017}" presName="wedge3Tx" presStyleLbl="node1" presStyleIdx="2" presStyleCnt="5">
        <dgm:presLayoutVars>
          <dgm:chMax val="0"/>
          <dgm:chPref val="0"/>
          <dgm:bulletEnabled val="1"/>
        </dgm:presLayoutVars>
      </dgm:prSet>
      <dgm:spPr/>
    </dgm:pt>
    <dgm:pt modelId="{EEF40514-9901-4791-BEE8-1F75D192C234}" type="pres">
      <dgm:prSet presAssocID="{E5B612E2-59AA-40EF-8616-F39B2B841017}" presName="wedge4" presStyleLbl="node1" presStyleIdx="3" presStyleCnt="5"/>
      <dgm:spPr/>
    </dgm:pt>
    <dgm:pt modelId="{D5382FFF-090F-406A-93C8-AC3E573D132A}" type="pres">
      <dgm:prSet presAssocID="{E5B612E2-59AA-40EF-8616-F39B2B841017}" presName="wedge4Tx" presStyleLbl="node1" presStyleIdx="3" presStyleCnt="5">
        <dgm:presLayoutVars>
          <dgm:chMax val="0"/>
          <dgm:chPref val="0"/>
          <dgm:bulletEnabled val="1"/>
        </dgm:presLayoutVars>
      </dgm:prSet>
      <dgm:spPr/>
    </dgm:pt>
    <dgm:pt modelId="{CF98533E-5C04-4181-9C37-EACC9F546326}" type="pres">
      <dgm:prSet presAssocID="{E5B612E2-59AA-40EF-8616-F39B2B841017}" presName="wedge5" presStyleLbl="node1" presStyleIdx="4" presStyleCnt="5"/>
      <dgm:spPr/>
    </dgm:pt>
    <dgm:pt modelId="{139A5CCF-9E1E-4238-9918-8E58CBA3D4BE}" type="pres">
      <dgm:prSet presAssocID="{E5B612E2-59AA-40EF-8616-F39B2B841017}" presName="wedge5Tx" presStyleLbl="node1" presStyleIdx="4" presStyleCnt="5">
        <dgm:presLayoutVars>
          <dgm:chMax val="0"/>
          <dgm:chPref val="0"/>
          <dgm:bulletEnabled val="1"/>
        </dgm:presLayoutVars>
      </dgm:prSet>
      <dgm:spPr/>
    </dgm:pt>
  </dgm:ptLst>
  <dgm:cxnLst>
    <dgm:cxn modelId="{278EAF0C-5463-42DE-9F3D-88ADF99C67F5}" type="presOf" srcId="{410DE7E5-02F3-4CF5-9C79-447991B1404D}" destId="{EB7013D5-6300-4402-863C-A9684A60F1A9}" srcOrd="1" destOrd="0" presId="urn:microsoft.com/office/officeart/2005/8/layout/chart3"/>
    <dgm:cxn modelId="{91A9A72E-1486-4162-AD09-BBACC81AE720}" srcId="{E5B612E2-59AA-40EF-8616-F39B2B841017}" destId="{44F91782-B138-4082-BA94-43128FC68017}" srcOrd="1" destOrd="0" parTransId="{47893E04-F3E2-4FA8-89BE-291A65500F3C}" sibTransId="{6EBA36A2-967D-45E1-9D54-ECBBA9506F44}"/>
    <dgm:cxn modelId="{B5A8695B-ECF6-4BE4-A5AC-D617276634E9}" type="presOf" srcId="{F55EFB56-90D5-4430-AF97-1143EB9EADC3}" destId="{CF98533E-5C04-4181-9C37-EACC9F546326}" srcOrd="0" destOrd="0" presId="urn:microsoft.com/office/officeart/2005/8/layout/chart3"/>
    <dgm:cxn modelId="{69FA0765-EAE6-4B73-BE72-485FC8A6F59B}" type="presOf" srcId="{44F91782-B138-4082-BA94-43128FC68017}" destId="{86240213-3BFD-4A5C-866C-2489BBAA6D21}" srcOrd="1" destOrd="0" presId="urn:microsoft.com/office/officeart/2005/8/layout/chart3"/>
    <dgm:cxn modelId="{0531C048-EC16-4EFB-A286-D81B528778C0}" srcId="{E5B612E2-59AA-40EF-8616-F39B2B841017}" destId="{AD9EEB1B-69B4-43E9-A8B4-749397E7FFC6}" srcOrd="3" destOrd="0" parTransId="{75610C18-97DC-4158-8B89-67EADBE5F8D1}" sibTransId="{5949930B-AB33-4FAA-AA6A-49C6673CD5E4}"/>
    <dgm:cxn modelId="{E7891A4A-9A33-4995-A8F0-1F977125F007}" srcId="{E5B612E2-59AA-40EF-8616-F39B2B841017}" destId="{410DE7E5-02F3-4CF5-9C79-447991B1404D}" srcOrd="2" destOrd="0" parTransId="{B11D0060-FA03-4BD2-BE75-18F12B5E9689}" sibTransId="{40254F39-CC01-457B-A01B-4E8095F51065}"/>
    <dgm:cxn modelId="{82CC5B72-9C6D-4607-BBC1-46D814712B9A}" type="presOf" srcId="{AD9EEB1B-69B4-43E9-A8B4-749397E7FFC6}" destId="{EEF40514-9901-4791-BEE8-1F75D192C234}" srcOrd="0" destOrd="0" presId="urn:microsoft.com/office/officeart/2005/8/layout/chart3"/>
    <dgm:cxn modelId="{03DF817A-80FB-4EDC-B750-F6DC6ABFA09A}" type="presOf" srcId="{410DE7E5-02F3-4CF5-9C79-447991B1404D}" destId="{D190833E-28BA-45E9-9440-185FB6B4618C}" srcOrd="0" destOrd="0" presId="urn:microsoft.com/office/officeart/2005/8/layout/chart3"/>
    <dgm:cxn modelId="{6D782588-F967-45B3-B6F0-73E4C7A9554E}" srcId="{E5B612E2-59AA-40EF-8616-F39B2B841017}" destId="{F55EFB56-90D5-4430-AF97-1143EB9EADC3}" srcOrd="4" destOrd="0" parTransId="{0425E4FC-5FC6-460F-ACFC-C6B16319DD42}" sibTransId="{3AFF4585-6EEE-4886-8444-D3E798B19841}"/>
    <dgm:cxn modelId="{AF4BD996-498D-47E5-A204-19330713E1C7}" srcId="{E5B612E2-59AA-40EF-8616-F39B2B841017}" destId="{52BA0F50-86E2-49A8-8511-097C02134951}" srcOrd="0" destOrd="0" parTransId="{DFADA70F-F1F4-40E0-A266-C5C59815AF40}" sibTransId="{28B17BA6-25B3-47E2-98EF-9EF77C12A07B}"/>
    <dgm:cxn modelId="{FBC42F9A-AD1D-489F-BD95-82BBF2679196}" type="presOf" srcId="{E5B612E2-59AA-40EF-8616-F39B2B841017}" destId="{C9A3B075-46C3-4727-9E8E-ED8C7CAE4FD5}" srcOrd="0" destOrd="0" presId="urn:microsoft.com/office/officeart/2005/8/layout/chart3"/>
    <dgm:cxn modelId="{C2AD86A6-6AC1-4BCA-A3F1-2CE8B335EB72}" type="presOf" srcId="{44F91782-B138-4082-BA94-43128FC68017}" destId="{E956E139-5FEC-4D4E-93DB-D07D9CEA1554}" srcOrd="0" destOrd="0" presId="urn:microsoft.com/office/officeart/2005/8/layout/chart3"/>
    <dgm:cxn modelId="{7D657EB8-32CD-46D4-99E5-B29A0BA14FF2}" type="presOf" srcId="{52BA0F50-86E2-49A8-8511-097C02134951}" destId="{DBEE847B-76D0-402A-9292-1E9D32CD5F64}" srcOrd="1" destOrd="0" presId="urn:microsoft.com/office/officeart/2005/8/layout/chart3"/>
    <dgm:cxn modelId="{CBD28FD9-33B8-4983-A521-1E4C7EE6CBA8}" type="presOf" srcId="{52BA0F50-86E2-49A8-8511-097C02134951}" destId="{6DC7D5B8-E4FC-4C08-8A25-BD37B2FA746B}" srcOrd="0" destOrd="0" presId="urn:microsoft.com/office/officeart/2005/8/layout/chart3"/>
    <dgm:cxn modelId="{3A6B8DE3-98F6-48D2-B5FF-FD6555CEB030}" type="presOf" srcId="{AD9EEB1B-69B4-43E9-A8B4-749397E7FFC6}" destId="{D5382FFF-090F-406A-93C8-AC3E573D132A}" srcOrd="1" destOrd="0" presId="urn:microsoft.com/office/officeart/2005/8/layout/chart3"/>
    <dgm:cxn modelId="{8CD313F6-42B9-4FC2-BB24-C8B4187AE908}" type="presOf" srcId="{F55EFB56-90D5-4430-AF97-1143EB9EADC3}" destId="{139A5CCF-9E1E-4238-9918-8E58CBA3D4BE}" srcOrd="1" destOrd="0" presId="urn:microsoft.com/office/officeart/2005/8/layout/chart3"/>
    <dgm:cxn modelId="{068335D9-6DFA-4FC0-BFB7-32EA60887267}" type="presParOf" srcId="{C9A3B075-46C3-4727-9E8E-ED8C7CAE4FD5}" destId="{6DC7D5B8-E4FC-4C08-8A25-BD37B2FA746B}" srcOrd="0" destOrd="0" presId="urn:microsoft.com/office/officeart/2005/8/layout/chart3"/>
    <dgm:cxn modelId="{2AFF45CB-9BC8-4F2B-92C9-7EDCF1402E7D}" type="presParOf" srcId="{C9A3B075-46C3-4727-9E8E-ED8C7CAE4FD5}" destId="{DBEE847B-76D0-402A-9292-1E9D32CD5F64}" srcOrd="1" destOrd="0" presId="urn:microsoft.com/office/officeart/2005/8/layout/chart3"/>
    <dgm:cxn modelId="{E906852D-2781-4448-94CC-852182C00F9F}" type="presParOf" srcId="{C9A3B075-46C3-4727-9E8E-ED8C7CAE4FD5}" destId="{E956E139-5FEC-4D4E-93DB-D07D9CEA1554}" srcOrd="2" destOrd="0" presId="urn:microsoft.com/office/officeart/2005/8/layout/chart3"/>
    <dgm:cxn modelId="{902F0A2F-6770-4362-92D2-07EB6F3F3629}" type="presParOf" srcId="{C9A3B075-46C3-4727-9E8E-ED8C7CAE4FD5}" destId="{86240213-3BFD-4A5C-866C-2489BBAA6D21}" srcOrd="3" destOrd="0" presId="urn:microsoft.com/office/officeart/2005/8/layout/chart3"/>
    <dgm:cxn modelId="{F50AF7B3-9C4C-4193-B7B7-3E981365123A}" type="presParOf" srcId="{C9A3B075-46C3-4727-9E8E-ED8C7CAE4FD5}" destId="{D190833E-28BA-45E9-9440-185FB6B4618C}" srcOrd="4" destOrd="0" presId="urn:microsoft.com/office/officeart/2005/8/layout/chart3"/>
    <dgm:cxn modelId="{36FE8AB5-BBC9-4B5B-B6A5-C4ABC16AF76F}" type="presParOf" srcId="{C9A3B075-46C3-4727-9E8E-ED8C7CAE4FD5}" destId="{EB7013D5-6300-4402-863C-A9684A60F1A9}" srcOrd="5" destOrd="0" presId="urn:microsoft.com/office/officeart/2005/8/layout/chart3"/>
    <dgm:cxn modelId="{BA9483BA-E92E-4FE0-908A-CAFC18C6C285}" type="presParOf" srcId="{C9A3B075-46C3-4727-9E8E-ED8C7CAE4FD5}" destId="{EEF40514-9901-4791-BEE8-1F75D192C234}" srcOrd="6" destOrd="0" presId="urn:microsoft.com/office/officeart/2005/8/layout/chart3"/>
    <dgm:cxn modelId="{0D74D1B9-848B-42F7-8A87-D66C9ADED428}" type="presParOf" srcId="{C9A3B075-46C3-4727-9E8E-ED8C7CAE4FD5}" destId="{D5382FFF-090F-406A-93C8-AC3E573D132A}" srcOrd="7" destOrd="0" presId="urn:microsoft.com/office/officeart/2005/8/layout/chart3"/>
    <dgm:cxn modelId="{E1DA590F-6786-42C6-9A7F-97C3CDF8D828}" type="presParOf" srcId="{C9A3B075-46C3-4727-9E8E-ED8C7CAE4FD5}" destId="{CF98533E-5C04-4181-9C37-EACC9F546326}" srcOrd="8" destOrd="0" presId="urn:microsoft.com/office/officeart/2005/8/layout/chart3"/>
    <dgm:cxn modelId="{E43E16BB-1C29-4D61-A8B8-F5D33DB34DA4}" type="presParOf" srcId="{C9A3B075-46C3-4727-9E8E-ED8C7CAE4FD5}" destId="{139A5CCF-9E1E-4238-9918-8E58CBA3D4BE}" srcOrd="9" destOrd="0" presId="urn:microsoft.com/office/officeart/2005/8/layout/char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04A3E08-F929-4874-9E76-1FD3D8DEA5CF}"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C1953FF9-5DA1-4E69-BA8E-BD9D41D5112B}">
      <dgm:prSet/>
      <dgm:spPr/>
      <dgm:t>
        <a:bodyPr/>
        <a:lstStyle/>
        <a:p>
          <a:r>
            <a:rPr lang="en-US" b="0" i="0" dirty="0"/>
            <a:t>California leads with $0.34M in sales, followed by New York ($0.19M) and Texas ($0.12M).</a:t>
          </a:r>
          <a:endParaRPr lang="en-US" dirty="0"/>
        </a:p>
      </dgm:t>
    </dgm:pt>
    <dgm:pt modelId="{1EC3B3B4-918A-4B65-96AC-0DEF8A7D9A07}" type="parTrans" cxnId="{C1F60647-7193-4EDE-8A96-C7BAF4A24670}">
      <dgm:prSet/>
      <dgm:spPr/>
      <dgm:t>
        <a:bodyPr/>
        <a:lstStyle/>
        <a:p>
          <a:endParaRPr lang="en-US"/>
        </a:p>
      </dgm:t>
    </dgm:pt>
    <dgm:pt modelId="{53A6BF44-454F-4FDB-9990-7796EA6A7AB6}" type="sibTrans" cxnId="{C1F60647-7193-4EDE-8A96-C7BAF4A24670}">
      <dgm:prSet/>
      <dgm:spPr/>
      <dgm:t>
        <a:bodyPr/>
        <a:lstStyle/>
        <a:p>
          <a:endParaRPr lang="en-US"/>
        </a:p>
      </dgm:t>
    </dgm:pt>
    <dgm:pt modelId="{B4D09033-35D8-4B40-85F1-0C51A7CAA4EF}">
      <dgm:prSet/>
      <dgm:spPr/>
      <dgm:t>
        <a:bodyPr/>
        <a:lstStyle/>
        <a:p>
          <a:r>
            <a:rPr lang="en-US" b="0" i="0"/>
            <a:t>Western states dominate performance, while Midwest regions show growth potential.</a:t>
          </a:r>
          <a:endParaRPr lang="en-US"/>
        </a:p>
      </dgm:t>
    </dgm:pt>
    <dgm:pt modelId="{71F4C66A-7720-4C46-B944-5EAC6C9900DA}" type="parTrans" cxnId="{78C6C689-837B-4E3A-BF25-74018D09B6A4}">
      <dgm:prSet/>
      <dgm:spPr/>
      <dgm:t>
        <a:bodyPr/>
        <a:lstStyle/>
        <a:p>
          <a:endParaRPr lang="en-US"/>
        </a:p>
      </dgm:t>
    </dgm:pt>
    <dgm:pt modelId="{94BF27E1-1745-4AEA-A941-E31DBCC91554}" type="sibTrans" cxnId="{78C6C689-837B-4E3A-BF25-74018D09B6A4}">
      <dgm:prSet/>
      <dgm:spPr/>
      <dgm:t>
        <a:bodyPr/>
        <a:lstStyle/>
        <a:p>
          <a:endParaRPr lang="en-US"/>
        </a:p>
      </dgm:t>
    </dgm:pt>
    <dgm:pt modelId="{12DC6C93-5C97-4AE7-8871-297189B6BCB0}">
      <dgm:prSet/>
      <dgm:spPr/>
      <dgm:t>
        <a:bodyPr/>
        <a:lstStyle/>
        <a:p>
          <a:r>
            <a:rPr lang="en-US" b="0" i="0"/>
            <a:t>Sales forecast for the next 15–20 days predicts stable growth between $8K–$10K daily.</a:t>
          </a:r>
          <a:endParaRPr lang="en-US"/>
        </a:p>
      </dgm:t>
    </dgm:pt>
    <dgm:pt modelId="{DEE3BDEF-A484-46FB-8735-F8AD94A557F2}" type="parTrans" cxnId="{7F1671D5-83E5-4D28-9337-7678F1EBD64F}">
      <dgm:prSet/>
      <dgm:spPr/>
      <dgm:t>
        <a:bodyPr/>
        <a:lstStyle/>
        <a:p>
          <a:endParaRPr lang="en-US"/>
        </a:p>
      </dgm:t>
    </dgm:pt>
    <dgm:pt modelId="{DFDA3CF5-061D-4D34-B579-E8439290F53B}" type="sibTrans" cxnId="{7F1671D5-83E5-4D28-9337-7678F1EBD64F}">
      <dgm:prSet/>
      <dgm:spPr/>
      <dgm:t>
        <a:bodyPr/>
        <a:lstStyle/>
        <a:p>
          <a:endParaRPr lang="en-US"/>
        </a:p>
      </dgm:t>
    </dgm:pt>
    <dgm:pt modelId="{5624BC62-21B7-42E5-9E76-153951B5D3C7}">
      <dgm:prSet/>
      <dgm:spPr/>
      <dgm:t>
        <a:bodyPr/>
        <a:lstStyle/>
        <a:p>
          <a:r>
            <a:rPr lang="en-US" b="0" i="0" dirty="0"/>
            <a:t>Forecast highlights consistent demand, suggesting effective marketing and product alignment.</a:t>
          </a:r>
          <a:endParaRPr lang="en-US" dirty="0"/>
        </a:p>
      </dgm:t>
    </dgm:pt>
    <dgm:pt modelId="{CE1EABD8-0F77-494C-94C5-03F07092E112}" type="parTrans" cxnId="{223DD57B-46F8-4F1F-BC32-EEE59E84C5DD}">
      <dgm:prSet/>
      <dgm:spPr/>
      <dgm:t>
        <a:bodyPr/>
        <a:lstStyle/>
        <a:p>
          <a:endParaRPr lang="en-US"/>
        </a:p>
      </dgm:t>
    </dgm:pt>
    <dgm:pt modelId="{F253B2F2-6731-47C1-BB17-F7814A9C50FB}" type="sibTrans" cxnId="{223DD57B-46F8-4F1F-BC32-EEE59E84C5DD}">
      <dgm:prSet/>
      <dgm:spPr/>
      <dgm:t>
        <a:bodyPr/>
        <a:lstStyle/>
        <a:p>
          <a:endParaRPr lang="en-US"/>
        </a:p>
      </dgm:t>
    </dgm:pt>
    <dgm:pt modelId="{8C28994C-F3EC-40BA-9019-C84D1C89F795}">
      <dgm:prSet/>
      <dgm:spPr/>
      <dgm:t>
        <a:bodyPr/>
        <a:lstStyle/>
        <a:p>
          <a:r>
            <a:rPr lang="en-US" b="0" i="0"/>
            <a:t>East region shows steady sales volume, but margin optimization opportunities exist.</a:t>
          </a:r>
          <a:endParaRPr lang="en-US"/>
        </a:p>
      </dgm:t>
    </dgm:pt>
    <dgm:pt modelId="{B5EC1BAA-ABCA-4B75-884A-17A42242607C}" type="parTrans" cxnId="{71CC387C-9D28-48FE-B9E7-939081F69384}">
      <dgm:prSet/>
      <dgm:spPr/>
      <dgm:t>
        <a:bodyPr/>
        <a:lstStyle/>
        <a:p>
          <a:endParaRPr lang="en-US"/>
        </a:p>
      </dgm:t>
    </dgm:pt>
    <dgm:pt modelId="{5F858C57-7C2E-4B40-92E0-C86B7EC4556E}" type="sibTrans" cxnId="{71CC387C-9D28-48FE-B9E7-939081F69384}">
      <dgm:prSet/>
      <dgm:spPr/>
      <dgm:t>
        <a:bodyPr/>
        <a:lstStyle/>
        <a:p>
          <a:endParaRPr lang="en-US"/>
        </a:p>
      </dgm:t>
    </dgm:pt>
    <dgm:pt modelId="{1EE22D95-F16A-404B-B7E5-806BDFCEA412}">
      <dgm:prSet/>
      <dgm:spPr/>
      <dgm:t>
        <a:bodyPr/>
        <a:lstStyle/>
        <a:p>
          <a:r>
            <a:rPr lang="en-US" b="0" i="0" dirty="0"/>
            <a:t>South region underperforming with only 16% share – improvement opportunity.</a:t>
          </a:r>
          <a:endParaRPr lang="en-US" dirty="0"/>
        </a:p>
      </dgm:t>
    </dgm:pt>
    <dgm:pt modelId="{A3CF3EC7-597E-4433-9803-9DD271686896}" type="parTrans" cxnId="{949EEDC4-8B75-41A7-8B34-09D25C8BD0D5}">
      <dgm:prSet/>
      <dgm:spPr/>
      <dgm:t>
        <a:bodyPr/>
        <a:lstStyle/>
        <a:p>
          <a:endParaRPr lang="en-US"/>
        </a:p>
      </dgm:t>
    </dgm:pt>
    <dgm:pt modelId="{080D145C-F3DD-44DF-9F40-E6DC58EE006A}" type="sibTrans" cxnId="{949EEDC4-8B75-41A7-8B34-09D25C8BD0D5}">
      <dgm:prSet/>
      <dgm:spPr/>
      <dgm:t>
        <a:bodyPr/>
        <a:lstStyle/>
        <a:p>
          <a:endParaRPr lang="en-US"/>
        </a:p>
      </dgm:t>
    </dgm:pt>
    <dgm:pt modelId="{8ED7C74B-52BB-4D56-B814-A57C3A3B0B57}" type="pres">
      <dgm:prSet presAssocID="{004A3E08-F929-4874-9E76-1FD3D8DEA5CF}" presName="diagram" presStyleCnt="0">
        <dgm:presLayoutVars>
          <dgm:dir/>
          <dgm:resizeHandles val="exact"/>
        </dgm:presLayoutVars>
      </dgm:prSet>
      <dgm:spPr/>
    </dgm:pt>
    <dgm:pt modelId="{60C2DAF2-C318-4942-A405-04A0BB05BF9B}" type="pres">
      <dgm:prSet presAssocID="{C1953FF9-5DA1-4E69-BA8E-BD9D41D5112B}" presName="node" presStyleLbl="node1" presStyleIdx="0" presStyleCnt="6">
        <dgm:presLayoutVars>
          <dgm:bulletEnabled val="1"/>
        </dgm:presLayoutVars>
      </dgm:prSet>
      <dgm:spPr/>
    </dgm:pt>
    <dgm:pt modelId="{0E764370-85AA-4559-8156-EB31B07031E2}" type="pres">
      <dgm:prSet presAssocID="{53A6BF44-454F-4FDB-9990-7796EA6A7AB6}" presName="sibTrans" presStyleCnt="0"/>
      <dgm:spPr/>
    </dgm:pt>
    <dgm:pt modelId="{CCAAC22E-17E4-4150-BCEC-36837DCCD289}" type="pres">
      <dgm:prSet presAssocID="{B4D09033-35D8-4B40-85F1-0C51A7CAA4EF}" presName="node" presStyleLbl="node1" presStyleIdx="1" presStyleCnt="6">
        <dgm:presLayoutVars>
          <dgm:bulletEnabled val="1"/>
        </dgm:presLayoutVars>
      </dgm:prSet>
      <dgm:spPr/>
    </dgm:pt>
    <dgm:pt modelId="{051BAA17-7AE6-436F-9BFA-1BA6FE4D25B2}" type="pres">
      <dgm:prSet presAssocID="{94BF27E1-1745-4AEA-A941-E31DBCC91554}" presName="sibTrans" presStyleCnt="0"/>
      <dgm:spPr/>
    </dgm:pt>
    <dgm:pt modelId="{DAF8499C-5DC4-4B55-85A6-3ABF9E09E925}" type="pres">
      <dgm:prSet presAssocID="{12DC6C93-5C97-4AE7-8871-297189B6BCB0}" presName="node" presStyleLbl="node1" presStyleIdx="2" presStyleCnt="6">
        <dgm:presLayoutVars>
          <dgm:bulletEnabled val="1"/>
        </dgm:presLayoutVars>
      </dgm:prSet>
      <dgm:spPr/>
    </dgm:pt>
    <dgm:pt modelId="{6B6D2F25-0FF4-4271-A553-DD31E1F6BB63}" type="pres">
      <dgm:prSet presAssocID="{DFDA3CF5-061D-4D34-B579-E8439290F53B}" presName="sibTrans" presStyleCnt="0"/>
      <dgm:spPr/>
    </dgm:pt>
    <dgm:pt modelId="{23A96816-2F1F-4659-A237-DA9765D5BD4D}" type="pres">
      <dgm:prSet presAssocID="{5624BC62-21B7-42E5-9E76-153951B5D3C7}" presName="node" presStyleLbl="node1" presStyleIdx="3" presStyleCnt="6">
        <dgm:presLayoutVars>
          <dgm:bulletEnabled val="1"/>
        </dgm:presLayoutVars>
      </dgm:prSet>
      <dgm:spPr/>
    </dgm:pt>
    <dgm:pt modelId="{F1BA455F-4C41-45D5-98DE-4410583CC7AD}" type="pres">
      <dgm:prSet presAssocID="{F253B2F2-6731-47C1-BB17-F7814A9C50FB}" presName="sibTrans" presStyleCnt="0"/>
      <dgm:spPr/>
    </dgm:pt>
    <dgm:pt modelId="{03E79853-64CA-47D3-8671-6C338EBC5CD2}" type="pres">
      <dgm:prSet presAssocID="{8C28994C-F3EC-40BA-9019-C84D1C89F795}" presName="node" presStyleLbl="node1" presStyleIdx="4" presStyleCnt="6">
        <dgm:presLayoutVars>
          <dgm:bulletEnabled val="1"/>
        </dgm:presLayoutVars>
      </dgm:prSet>
      <dgm:spPr/>
    </dgm:pt>
    <dgm:pt modelId="{C0069401-7A5C-457A-AE82-61870B6BA2F8}" type="pres">
      <dgm:prSet presAssocID="{5F858C57-7C2E-4B40-92E0-C86B7EC4556E}" presName="sibTrans" presStyleCnt="0"/>
      <dgm:spPr/>
    </dgm:pt>
    <dgm:pt modelId="{48F82C71-0184-49C0-8A64-04784FD9F5B5}" type="pres">
      <dgm:prSet presAssocID="{1EE22D95-F16A-404B-B7E5-806BDFCEA412}" presName="node" presStyleLbl="node1" presStyleIdx="5" presStyleCnt="6">
        <dgm:presLayoutVars>
          <dgm:bulletEnabled val="1"/>
        </dgm:presLayoutVars>
      </dgm:prSet>
      <dgm:spPr/>
    </dgm:pt>
  </dgm:ptLst>
  <dgm:cxnLst>
    <dgm:cxn modelId="{7509C236-945C-4BDF-A598-FE5A490BB7CC}" type="presOf" srcId="{5624BC62-21B7-42E5-9E76-153951B5D3C7}" destId="{23A96816-2F1F-4659-A237-DA9765D5BD4D}" srcOrd="0" destOrd="0" presId="urn:microsoft.com/office/officeart/2005/8/layout/default"/>
    <dgm:cxn modelId="{204CDA64-FB88-4197-B523-7BFF2F98E139}" type="presOf" srcId="{004A3E08-F929-4874-9E76-1FD3D8DEA5CF}" destId="{8ED7C74B-52BB-4D56-B814-A57C3A3B0B57}" srcOrd="0" destOrd="0" presId="urn:microsoft.com/office/officeart/2005/8/layout/default"/>
    <dgm:cxn modelId="{C1F60647-7193-4EDE-8A96-C7BAF4A24670}" srcId="{004A3E08-F929-4874-9E76-1FD3D8DEA5CF}" destId="{C1953FF9-5DA1-4E69-BA8E-BD9D41D5112B}" srcOrd="0" destOrd="0" parTransId="{1EC3B3B4-918A-4B65-96AC-0DEF8A7D9A07}" sibTransId="{53A6BF44-454F-4FDB-9990-7796EA6A7AB6}"/>
    <dgm:cxn modelId="{223DD57B-46F8-4F1F-BC32-EEE59E84C5DD}" srcId="{004A3E08-F929-4874-9E76-1FD3D8DEA5CF}" destId="{5624BC62-21B7-42E5-9E76-153951B5D3C7}" srcOrd="3" destOrd="0" parTransId="{CE1EABD8-0F77-494C-94C5-03F07092E112}" sibTransId="{F253B2F2-6731-47C1-BB17-F7814A9C50FB}"/>
    <dgm:cxn modelId="{71CC387C-9D28-48FE-B9E7-939081F69384}" srcId="{004A3E08-F929-4874-9E76-1FD3D8DEA5CF}" destId="{8C28994C-F3EC-40BA-9019-C84D1C89F795}" srcOrd="4" destOrd="0" parTransId="{B5EC1BAA-ABCA-4B75-884A-17A42242607C}" sibTransId="{5F858C57-7C2E-4B40-92E0-C86B7EC4556E}"/>
    <dgm:cxn modelId="{78C6C689-837B-4E3A-BF25-74018D09B6A4}" srcId="{004A3E08-F929-4874-9E76-1FD3D8DEA5CF}" destId="{B4D09033-35D8-4B40-85F1-0C51A7CAA4EF}" srcOrd="1" destOrd="0" parTransId="{71F4C66A-7720-4C46-B944-5EAC6C9900DA}" sibTransId="{94BF27E1-1745-4AEA-A941-E31DBCC91554}"/>
    <dgm:cxn modelId="{3535E895-C8B3-4139-B29E-8317FDC78E8C}" type="presOf" srcId="{B4D09033-35D8-4B40-85F1-0C51A7CAA4EF}" destId="{CCAAC22E-17E4-4150-BCEC-36837DCCD289}" srcOrd="0" destOrd="0" presId="urn:microsoft.com/office/officeart/2005/8/layout/default"/>
    <dgm:cxn modelId="{4A32A397-15D3-450B-9833-6999A6A3365E}" type="presOf" srcId="{8C28994C-F3EC-40BA-9019-C84D1C89F795}" destId="{03E79853-64CA-47D3-8671-6C338EBC5CD2}" srcOrd="0" destOrd="0" presId="urn:microsoft.com/office/officeart/2005/8/layout/default"/>
    <dgm:cxn modelId="{2872C6BE-83A7-42A8-91CA-8C07CEE77345}" type="presOf" srcId="{1EE22D95-F16A-404B-B7E5-806BDFCEA412}" destId="{48F82C71-0184-49C0-8A64-04784FD9F5B5}" srcOrd="0" destOrd="0" presId="urn:microsoft.com/office/officeart/2005/8/layout/default"/>
    <dgm:cxn modelId="{949EEDC4-8B75-41A7-8B34-09D25C8BD0D5}" srcId="{004A3E08-F929-4874-9E76-1FD3D8DEA5CF}" destId="{1EE22D95-F16A-404B-B7E5-806BDFCEA412}" srcOrd="5" destOrd="0" parTransId="{A3CF3EC7-597E-4433-9803-9DD271686896}" sibTransId="{080D145C-F3DD-44DF-9F40-E6DC58EE006A}"/>
    <dgm:cxn modelId="{D5BA5EC9-CEAD-49D1-AC8F-DA631E0C0B48}" type="presOf" srcId="{12DC6C93-5C97-4AE7-8871-297189B6BCB0}" destId="{DAF8499C-5DC4-4B55-85A6-3ABF9E09E925}" srcOrd="0" destOrd="0" presId="urn:microsoft.com/office/officeart/2005/8/layout/default"/>
    <dgm:cxn modelId="{941E77CA-2F47-4425-BAA3-30C063C0C612}" type="presOf" srcId="{C1953FF9-5DA1-4E69-BA8E-BD9D41D5112B}" destId="{60C2DAF2-C318-4942-A405-04A0BB05BF9B}" srcOrd="0" destOrd="0" presId="urn:microsoft.com/office/officeart/2005/8/layout/default"/>
    <dgm:cxn modelId="{7F1671D5-83E5-4D28-9337-7678F1EBD64F}" srcId="{004A3E08-F929-4874-9E76-1FD3D8DEA5CF}" destId="{12DC6C93-5C97-4AE7-8871-297189B6BCB0}" srcOrd="2" destOrd="0" parTransId="{DEE3BDEF-A484-46FB-8735-F8AD94A557F2}" sibTransId="{DFDA3CF5-061D-4D34-B579-E8439290F53B}"/>
    <dgm:cxn modelId="{52A4B48D-947B-4EFF-A2D3-3F26D54C8BBA}" type="presParOf" srcId="{8ED7C74B-52BB-4D56-B814-A57C3A3B0B57}" destId="{60C2DAF2-C318-4942-A405-04A0BB05BF9B}" srcOrd="0" destOrd="0" presId="urn:microsoft.com/office/officeart/2005/8/layout/default"/>
    <dgm:cxn modelId="{95515D8A-3599-419A-AA27-C1455DD80CDE}" type="presParOf" srcId="{8ED7C74B-52BB-4D56-B814-A57C3A3B0B57}" destId="{0E764370-85AA-4559-8156-EB31B07031E2}" srcOrd="1" destOrd="0" presId="urn:microsoft.com/office/officeart/2005/8/layout/default"/>
    <dgm:cxn modelId="{855C2BB1-2E62-40C3-82CE-A5F59B8DA81D}" type="presParOf" srcId="{8ED7C74B-52BB-4D56-B814-A57C3A3B0B57}" destId="{CCAAC22E-17E4-4150-BCEC-36837DCCD289}" srcOrd="2" destOrd="0" presId="urn:microsoft.com/office/officeart/2005/8/layout/default"/>
    <dgm:cxn modelId="{2DB99E04-1E85-432F-B5F9-89896CCFFC6C}" type="presParOf" srcId="{8ED7C74B-52BB-4D56-B814-A57C3A3B0B57}" destId="{051BAA17-7AE6-436F-9BFA-1BA6FE4D25B2}" srcOrd="3" destOrd="0" presId="urn:microsoft.com/office/officeart/2005/8/layout/default"/>
    <dgm:cxn modelId="{B28386B4-D7EA-4F8A-9736-521ECC66A793}" type="presParOf" srcId="{8ED7C74B-52BB-4D56-B814-A57C3A3B0B57}" destId="{DAF8499C-5DC4-4B55-85A6-3ABF9E09E925}" srcOrd="4" destOrd="0" presId="urn:microsoft.com/office/officeart/2005/8/layout/default"/>
    <dgm:cxn modelId="{0F2165E9-C9CF-4F21-820C-EAB08D2DD702}" type="presParOf" srcId="{8ED7C74B-52BB-4D56-B814-A57C3A3B0B57}" destId="{6B6D2F25-0FF4-4271-A553-DD31E1F6BB63}" srcOrd="5" destOrd="0" presId="urn:microsoft.com/office/officeart/2005/8/layout/default"/>
    <dgm:cxn modelId="{7E93DCD8-C646-4EAF-B19E-989CBC07375C}" type="presParOf" srcId="{8ED7C74B-52BB-4D56-B814-A57C3A3B0B57}" destId="{23A96816-2F1F-4659-A237-DA9765D5BD4D}" srcOrd="6" destOrd="0" presId="urn:microsoft.com/office/officeart/2005/8/layout/default"/>
    <dgm:cxn modelId="{6FF701E7-4837-42A0-AF44-D386D5A01902}" type="presParOf" srcId="{8ED7C74B-52BB-4D56-B814-A57C3A3B0B57}" destId="{F1BA455F-4C41-45D5-98DE-4410583CC7AD}" srcOrd="7" destOrd="0" presId="urn:microsoft.com/office/officeart/2005/8/layout/default"/>
    <dgm:cxn modelId="{118AF607-84F4-4F98-842E-2AE50E53ACE7}" type="presParOf" srcId="{8ED7C74B-52BB-4D56-B814-A57C3A3B0B57}" destId="{03E79853-64CA-47D3-8671-6C338EBC5CD2}" srcOrd="8" destOrd="0" presId="urn:microsoft.com/office/officeart/2005/8/layout/default"/>
    <dgm:cxn modelId="{AE2769DF-B33A-4B5D-8BC4-405CCFF9D648}" type="presParOf" srcId="{8ED7C74B-52BB-4D56-B814-A57C3A3B0B57}" destId="{C0069401-7A5C-457A-AE82-61870B6BA2F8}" srcOrd="9" destOrd="0" presId="urn:microsoft.com/office/officeart/2005/8/layout/default"/>
    <dgm:cxn modelId="{3F3B8564-6A6B-4142-9D94-1B48E028AD49}" type="presParOf" srcId="{8ED7C74B-52BB-4D56-B814-A57C3A3B0B57}" destId="{48F82C71-0184-49C0-8A64-04784FD9F5B5}"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B9D39AC-4117-4F70-9B4C-90B23F050F2E}"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A625D442-E604-4673-9803-AAD4239AEF30}">
      <dgm:prSet/>
      <dgm:spPr/>
      <dgm:t>
        <a:bodyPr/>
        <a:lstStyle/>
        <a:p>
          <a:pPr>
            <a:lnSpc>
              <a:spcPct val="100000"/>
            </a:lnSpc>
          </a:pPr>
          <a:r>
            <a:rPr lang="en-US" b="0" i="0"/>
            <a:t>Focus marketing and discount campaigns in South and Central regions to balance sales distribution.</a:t>
          </a:r>
          <a:endParaRPr lang="en-US"/>
        </a:p>
      </dgm:t>
    </dgm:pt>
    <dgm:pt modelId="{602E9BF5-8086-4CB5-AD63-882E2C815C94}" type="parTrans" cxnId="{3BCA1C57-36DB-4C33-A8D2-E02E97717BF8}">
      <dgm:prSet/>
      <dgm:spPr/>
      <dgm:t>
        <a:bodyPr/>
        <a:lstStyle/>
        <a:p>
          <a:endParaRPr lang="en-US"/>
        </a:p>
      </dgm:t>
    </dgm:pt>
    <dgm:pt modelId="{98A42EED-0CA4-4144-9406-F678302A3373}" type="sibTrans" cxnId="{3BCA1C57-36DB-4C33-A8D2-E02E97717BF8}">
      <dgm:prSet/>
      <dgm:spPr/>
      <dgm:t>
        <a:bodyPr/>
        <a:lstStyle/>
        <a:p>
          <a:pPr>
            <a:lnSpc>
              <a:spcPct val="100000"/>
            </a:lnSpc>
          </a:pPr>
          <a:endParaRPr lang="en-US"/>
        </a:p>
      </dgm:t>
    </dgm:pt>
    <dgm:pt modelId="{5D3DD0CF-A7FD-4078-BF52-C211E99D18AE}">
      <dgm:prSet/>
      <dgm:spPr/>
      <dgm:t>
        <a:bodyPr/>
        <a:lstStyle/>
        <a:p>
          <a:pPr>
            <a:lnSpc>
              <a:spcPct val="100000"/>
            </a:lnSpc>
          </a:pPr>
          <a:r>
            <a:rPr lang="en-US" b="0" i="0"/>
            <a:t>Promote high-demand subcategories (Phones, Chairs, Binders) through bundled offers and online campaigns.</a:t>
          </a:r>
          <a:endParaRPr lang="en-US"/>
        </a:p>
      </dgm:t>
    </dgm:pt>
    <dgm:pt modelId="{5AFA8D61-388E-4B27-B549-784A8407839B}" type="parTrans" cxnId="{DD7F9FAF-333A-4FDB-885C-A1746C21E1BC}">
      <dgm:prSet/>
      <dgm:spPr/>
      <dgm:t>
        <a:bodyPr/>
        <a:lstStyle/>
        <a:p>
          <a:endParaRPr lang="en-US"/>
        </a:p>
      </dgm:t>
    </dgm:pt>
    <dgm:pt modelId="{F3D34004-113A-435C-8300-A9B09434B743}" type="sibTrans" cxnId="{DD7F9FAF-333A-4FDB-885C-A1746C21E1BC}">
      <dgm:prSet/>
      <dgm:spPr/>
      <dgm:t>
        <a:bodyPr/>
        <a:lstStyle/>
        <a:p>
          <a:pPr>
            <a:lnSpc>
              <a:spcPct val="100000"/>
            </a:lnSpc>
          </a:pPr>
          <a:endParaRPr lang="en-US"/>
        </a:p>
      </dgm:t>
    </dgm:pt>
    <dgm:pt modelId="{0D35D0CE-9BB9-42DD-940A-B4B11BDE5322}">
      <dgm:prSet/>
      <dgm:spPr/>
      <dgm:t>
        <a:bodyPr/>
        <a:lstStyle/>
        <a:p>
          <a:pPr>
            <a:lnSpc>
              <a:spcPct val="100000"/>
            </a:lnSpc>
          </a:pPr>
          <a:r>
            <a:rPr lang="en-US" b="0" i="0"/>
            <a:t>Introduce loyalty programs for Consumer and Corporate segments to improve retention.</a:t>
          </a:r>
          <a:endParaRPr lang="en-US"/>
        </a:p>
      </dgm:t>
    </dgm:pt>
    <dgm:pt modelId="{0F018055-883E-4E65-8B64-A60867408E2E}" type="parTrans" cxnId="{56930F1D-2AD7-43E8-8F85-EBF1E2E335CF}">
      <dgm:prSet/>
      <dgm:spPr/>
      <dgm:t>
        <a:bodyPr/>
        <a:lstStyle/>
        <a:p>
          <a:endParaRPr lang="en-US"/>
        </a:p>
      </dgm:t>
    </dgm:pt>
    <dgm:pt modelId="{4E4CE97C-F00B-4D8B-9CED-969B7BBC151D}" type="sibTrans" cxnId="{56930F1D-2AD7-43E8-8F85-EBF1E2E335CF}">
      <dgm:prSet/>
      <dgm:spPr/>
      <dgm:t>
        <a:bodyPr/>
        <a:lstStyle/>
        <a:p>
          <a:pPr>
            <a:lnSpc>
              <a:spcPct val="100000"/>
            </a:lnSpc>
          </a:pPr>
          <a:endParaRPr lang="en-US"/>
        </a:p>
      </dgm:t>
    </dgm:pt>
    <dgm:pt modelId="{DF4B5BD6-CAFB-4EF0-AA69-8F952F303731}">
      <dgm:prSet/>
      <dgm:spPr/>
      <dgm:t>
        <a:bodyPr/>
        <a:lstStyle/>
        <a:p>
          <a:pPr>
            <a:lnSpc>
              <a:spcPct val="100000"/>
            </a:lnSpc>
          </a:pPr>
          <a:r>
            <a:rPr lang="en-US" b="0" i="0"/>
            <a:t>Optimize sales calendar around Q2 and Q4 peak demand seasons.</a:t>
          </a:r>
          <a:endParaRPr lang="en-US"/>
        </a:p>
      </dgm:t>
    </dgm:pt>
    <dgm:pt modelId="{1BD3947C-511E-403B-A5B7-10FEE47D18E9}" type="parTrans" cxnId="{17CF31D4-91C0-4879-B87D-D0B8BDA013D3}">
      <dgm:prSet/>
      <dgm:spPr/>
      <dgm:t>
        <a:bodyPr/>
        <a:lstStyle/>
        <a:p>
          <a:endParaRPr lang="en-US"/>
        </a:p>
      </dgm:t>
    </dgm:pt>
    <dgm:pt modelId="{365AF1BA-7D57-4F18-934E-DD1AADA7799B}" type="sibTrans" cxnId="{17CF31D4-91C0-4879-B87D-D0B8BDA013D3}">
      <dgm:prSet/>
      <dgm:spPr/>
      <dgm:t>
        <a:bodyPr/>
        <a:lstStyle/>
        <a:p>
          <a:pPr>
            <a:lnSpc>
              <a:spcPct val="100000"/>
            </a:lnSpc>
          </a:pPr>
          <a:endParaRPr lang="en-US"/>
        </a:p>
      </dgm:t>
    </dgm:pt>
    <dgm:pt modelId="{24BB6748-D43B-4D5B-9724-E474518FE239}">
      <dgm:prSet/>
      <dgm:spPr/>
      <dgm:t>
        <a:bodyPr/>
        <a:lstStyle/>
        <a:p>
          <a:pPr>
            <a:lnSpc>
              <a:spcPct val="100000"/>
            </a:lnSpc>
          </a:pPr>
          <a:r>
            <a:rPr lang="en-US" b="0" i="0"/>
            <a:t>Encourage online payment adoption by providing additional rewards or discounts for digital transactions.</a:t>
          </a:r>
          <a:endParaRPr lang="en-US"/>
        </a:p>
      </dgm:t>
    </dgm:pt>
    <dgm:pt modelId="{9DDD9525-33A3-4B6D-92B5-7E97EABE77F9}" type="parTrans" cxnId="{DF3D48A2-DD0B-475D-9A3A-5CCC477A2D8A}">
      <dgm:prSet/>
      <dgm:spPr/>
      <dgm:t>
        <a:bodyPr/>
        <a:lstStyle/>
        <a:p>
          <a:endParaRPr lang="en-US"/>
        </a:p>
      </dgm:t>
    </dgm:pt>
    <dgm:pt modelId="{1E33B8D9-8EFF-4D54-93E5-84DAFF9A0B38}" type="sibTrans" cxnId="{DF3D48A2-DD0B-475D-9A3A-5CCC477A2D8A}">
      <dgm:prSet/>
      <dgm:spPr/>
      <dgm:t>
        <a:bodyPr/>
        <a:lstStyle/>
        <a:p>
          <a:pPr>
            <a:lnSpc>
              <a:spcPct val="100000"/>
            </a:lnSpc>
          </a:pPr>
          <a:endParaRPr lang="en-US"/>
        </a:p>
      </dgm:t>
    </dgm:pt>
    <dgm:pt modelId="{56B68C19-7D3E-47FD-B7E4-D0A64A49BCBE}">
      <dgm:prSet/>
      <dgm:spPr/>
      <dgm:t>
        <a:bodyPr/>
        <a:lstStyle/>
        <a:p>
          <a:pPr>
            <a:lnSpc>
              <a:spcPct val="100000"/>
            </a:lnSpc>
          </a:pPr>
          <a:r>
            <a:rPr lang="en-US" b="0" i="0"/>
            <a:t>Partner with logistics for faster delivery and same-day options in metro regions.</a:t>
          </a:r>
          <a:endParaRPr lang="en-US"/>
        </a:p>
      </dgm:t>
    </dgm:pt>
    <dgm:pt modelId="{9CF5B9E6-7ECC-4263-B472-B159FFAE648B}" type="parTrans" cxnId="{4F32EA14-15D3-4E85-9655-9A5F0D039A07}">
      <dgm:prSet/>
      <dgm:spPr/>
      <dgm:t>
        <a:bodyPr/>
        <a:lstStyle/>
        <a:p>
          <a:endParaRPr lang="en-US"/>
        </a:p>
      </dgm:t>
    </dgm:pt>
    <dgm:pt modelId="{B8880E11-F2EC-40DD-B2E9-F84EE44F3BE3}" type="sibTrans" cxnId="{4F32EA14-15D3-4E85-9655-9A5F0D039A07}">
      <dgm:prSet/>
      <dgm:spPr/>
      <dgm:t>
        <a:bodyPr/>
        <a:lstStyle/>
        <a:p>
          <a:endParaRPr lang="en-US"/>
        </a:p>
      </dgm:t>
    </dgm:pt>
    <dgm:pt modelId="{6FF8C6FE-0C08-4369-B605-06E61A304738}" type="pres">
      <dgm:prSet presAssocID="{0B9D39AC-4117-4F70-9B4C-90B23F050F2E}" presName="root" presStyleCnt="0">
        <dgm:presLayoutVars>
          <dgm:dir/>
          <dgm:resizeHandles val="exact"/>
        </dgm:presLayoutVars>
      </dgm:prSet>
      <dgm:spPr/>
    </dgm:pt>
    <dgm:pt modelId="{AA331DF1-A7FC-4BFF-846E-00EF5B0A67E2}" type="pres">
      <dgm:prSet presAssocID="{0B9D39AC-4117-4F70-9B4C-90B23F050F2E}" presName="container" presStyleCnt="0">
        <dgm:presLayoutVars>
          <dgm:dir/>
          <dgm:resizeHandles val="exact"/>
        </dgm:presLayoutVars>
      </dgm:prSet>
      <dgm:spPr/>
    </dgm:pt>
    <dgm:pt modelId="{9C8ACD93-5956-4CF4-8BAE-D5B15BD9ABEF}" type="pres">
      <dgm:prSet presAssocID="{A625D442-E604-4673-9803-AAD4239AEF30}" presName="compNode" presStyleCnt="0"/>
      <dgm:spPr/>
    </dgm:pt>
    <dgm:pt modelId="{8567AE16-F74D-47B9-8124-44A2FF64781C}" type="pres">
      <dgm:prSet presAssocID="{A625D442-E604-4673-9803-AAD4239AEF30}" presName="iconBgRect" presStyleLbl="bgShp" presStyleIdx="0" presStyleCnt="6"/>
      <dgm:spPr/>
    </dgm:pt>
    <dgm:pt modelId="{53B19C04-D2A7-4B26-9DEF-88226024313D}" type="pres">
      <dgm:prSet presAssocID="{A625D442-E604-4673-9803-AAD4239AEF30}"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rker"/>
        </a:ext>
      </dgm:extLst>
    </dgm:pt>
    <dgm:pt modelId="{E486EA52-82DD-4D8A-BB67-4710DA8DF2A3}" type="pres">
      <dgm:prSet presAssocID="{A625D442-E604-4673-9803-AAD4239AEF30}" presName="spaceRect" presStyleCnt="0"/>
      <dgm:spPr/>
    </dgm:pt>
    <dgm:pt modelId="{84602457-850C-4A97-B99D-03181F49C0F7}" type="pres">
      <dgm:prSet presAssocID="{A625D442-E604-4673-9803-AAD4239AEF30}" presName="textRect" presStyleLbl="revTx" presStyleIdx="0" presStyleCnt="6">
        <dgm:presLayoutVars>
          <dgm:chMax val="1"/>
          <dgm:chPref val="1"/>
        </dgm:presLayoutVars>
      </dgm:prSet>
      <dgm:spPr/>
    </dgm:pt>
    <dgm:pt modelId="{3E2E6527-0AED-4363-B27E-C697294513D6}" type="pres">
      <dgm:prSet presAssocID="{98A42EED-0CA4-4144-9406-F678302A3373}" presName="sibTrans" presStyleLbl="sibTrans2D1" presStyleIdx="0" presStyleCnt="0"/>
      <dgm:spPr/>
    </dgm:pt>
    <dgm:pt modelId="{B1507B79-8135-4C75-BF06-7667CC06C096}" type="pres">
      <dgm:prSet presAssocID="{5D3DD0CF-A7FD-4078-BF52-C211E99D18AE}" presName="compNode" presStyleCnt="0"/>
      <dgm:spPr/>
    </dgm:pt>
    <dgm:pt modelId="{428D56B1-3FB0-4459-AD42-5AC85581FAC2}" type="pres">
      <dgm:prSet presAssocID="{5D3DD0CF-A7FD-4078-BF52-C211E99D18AE}" presName="iconBgRect" presStyleLbl="bgShp" presStyleIdx="1" presStyleCnt="6"/>
      <dgm:spPr/>
    </dgm:pt>
    <dgm:pt modelId="{56A3E03C-2CAE-4104-8D8C-DB515430DD19}" type="pres">
      <dgm:prSet presAssocID="{5D3DD0CF-A7FD-4078-BF52-C211E99D18AE}"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ospital"/>
        </a:ext>
      </dgm:extLst>
    </dgm:pt>
    <dgm:pt modelId="{6D7C4826-0A19-4261-878C-8DC580148157}" type="pres">
      <dgm:prSet presAssocID="{5D3DD0CF-A7FD-4078-BF52-C211E99D18AE}" presName="spaceRect" presStyleCnt="0"/>
      <dgm:spPr/>
    </dgm:pt>
    <dgm:pt modelId="{42F4277B-51BB-4D6E-9BA8-1CA617173FB3}" type="pres">
      <dgm:prSet presAssocID="{5D3DD0CF-A7FD-4078-BF52-C211E99D18AE}" presName="textRect" presStyleLbl="revTx" presStyleIdx="1" presStyleCnt="6">
        <dgm:presLayoutVars>
          <dgm:chMax val="1"/>
          <dgm:chPref val="1"/>
        </dgm:presLayoutVars>
      </dgm:prSet>
      <dgm:spPr/>
    </dgm:pt>
    <dgm:pt modelId="{566B9E71-F964-4FEB-8512-A45A79CE98B9}" type="pres">
      <dgm:prSet presAssocID="{F3D34004-113A-435C-8300-A9B09434B743}" presName="sibTrans" presStyleLbl="sibTrans2D1" presStyleIdx="0" presStyleCnt="0"/>
      <dgm:spPr/>
    </dgm:pt>
    <dgm:pt modelId="{BC85DF5A-B54B-4E23-8BF7-C57E026A064E}" type="pres">
      <dgm:prSet presAssocID="{0D35D0CE-9BB9-42DD-940A-B4B11BDE5322}" presName="compNode" presStyleCnt="0"/>
      <dgm:spPr/>
    </dgm:pt>
    <dgm:pt modelId="{184C31A0-F390-4666-8633-712FA8401B84}" type="pres">
      <dgm:prSet presAssocID="{0D35D0CE-9BB9-42DD-940A-B4B11BDE5322}" presName="iconBgRect" presStyleLbl="bgShp" presStyleIdx="2" presStyleCnt="6"/>
      <dgm:spPr/>
    </dgm:pt>
    <dgm:pt modelId="{C04F6E19-AF4B-41FB-8329-DEC31B0A5541}" type="pres">
      <dgm:prSet presAssocID="{0D35D0CE-9BB9-42DD-940A-B4B11BDE5322}"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usiness Growth"/>
        </a:ext>
      </dgm:extLst>
    </dgm:pt>
    <dgm:pt modelId="{FD57A18F-D7FF-4D18-811F-E558E6797817}" type="pres">
      <dgm:prSet presAssocID="{0D35D0CE-9BB9-42DD-940A-B4B11BDE5322}" presName="spaceRect" presStyleCnt="0"/>
      <dgm:spPr/>
    </dgm:pt>
    <dgm:pt modelId="{716EF555-EF39-4A0F-82DC-8E2C42916F50}" type="pres">
      <dgm:prSet presAssocID="{0D35D0CE-9BB9-42DD-940A-B4B11BDE5322}" presName="textRect" presStyleLbl="revTx" presStyleIdx="2" presStyleCnt="6">
        <dgm:presLayoutVars>
          <dgm:chMax val="1"/>
          <dgm:chPref val="1"/>
        </dgm:presLayoutVars>
      </dgm:prSet>
      <dgm:spPr/>
    </dgm:pt>
    <dgm:pt modelId="{9976D6A9-E67C-42A7-A399-0EDABD2B995E}" type="pres">
      <dgm:prSet presAssocID="{4E4CE97C-F00B-4D8B-9CED-969B7BBC151D}" presName="sibTrans" presStyleLbl="sibTrans2D1" presStyleIdx="0" presStyleCnt="0"/>
      <dgm:spPr/>
    </dgm:pt>
    <dgm:pt modelId="{48327712-5FA0-40B5-A59C-38EF237215C5}" type="pres">
      <dgm:prSet presAssocID="{DF4B5BD6-CAFB-4EF0-AA69-8F952F303731}" presName="compNode" presStyleCnt="0"/>
      <dgm:spPr/>
    </dgm:pt>
    <dgm:pt modelId="{1B79C842-7ABD-4047-B605-4A51811F03E6}" type="pres">
      <dgm:prSet presAssocID="{DF4B5BD6-CAFB-4EF0-AA69-8F952F303731}" presName="iconBgRect" presStyleLbl="bgShp" presStyleIdx="3" presStyleCnt="6"/>
      <dgm:spPr/>
    </dgm:pt>
    <dgm:pt modelId="{B0D7C3E6-E52F-4398-A234-7AA52A6478E1}" type="pres">
      <dgm:prSet presAssocID="{DF4B5BD6-CAFB-4EF0-AA69-8F952F303731}"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aily Calendar"/>
        </a:ext>
      </dgm:extLst>
    </dgm:pt>
    <dgm:pt modelId="{BD817747-3F01-47E0-B5C9-65977527D9A3}" type="pres">
      <dgm:prSet presAssocID="{DF4B5BD6-CAFB-4EF0-AA69-8F952F303731}" presName="spaceRect" presStyleCnt="0"/>
      <dgm:spPr/>
    </dgm:pt>
    <dgm:pt modelId="{31915AB2-420A-4A4C-B737-C89BF061804C}" type="pres">
      <dgm:prSet presAssocID="{DF4B5BD6-CAFB-4EF0-AA69-8F952F303731}" presName="textRect" presStyleLbl="revTx" presStyleIdx="3" presStyleCnt="6">
        <dgm:presLayoutVars>
          <dgm:chMax val="1"/>
          <dgm:chPref val="1"/>
        </dgm:presLayoutVars>
      </dgm:prSet>
      <dgm:spPr/>
    </dgm:pt>
    <dgm:pt modelId="{34F433F5-B7ED-46D5-AB0D-821B27F874B4}" type="pres">
      <dgm:prSet presAssocID="{365AF1BA-7D57-4F18-934E-DD1AADA7799B}" presName="sibTrans" presStyleLbl="sibTrans2D1" presStyleIdx="0" presStyleCnt="0"/>
      <dgm:spPr/>
    </dgm:pt>
    <dgm:pt modelId="{648C627F-658A-4862-82CE-FE26498D194C}" type="pres">
      <dgm:prSet presAssocID="{24BB6748-D43B-4D5B-9724-E474518FE239}" presName="compNode" presStyleCnt="0"/>
      <dgm:spPr/>
    </dgm:pt>
    <dgm:pt modelId="{C0D8FC62-BF3F-402A-AEA0-7815EBE70764}" type="pres">
      <dgm:prSet presAssocID="{24BB6748-D43B-4D5B-9724-E474518FE239}" presName="iconBgRect" presStyleLbl="bgShp" presStyleIdx="4" presStyleCnt="6"/>
      <dgm:spPr/>
    </dgm:pt>
    <dgm:pt modelId="{1068120D-1ADF-48A6-97D1-28FAC9FA90FA}" type="pres">
      <dgm:prSet presAssocID="{24BB6748-D43B-4D5B-9724-E474518FE239}"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redit card"/>
        </a:ext>
      </dgm:extLst>
    </dgm:pt>
    <dgm:pt modelId="{16FE158C-E982-44CF-B056-1947F82ED759}" type="pres">
      <dgm:prSet presAssocID="{24BB6748-D43B-4D5B-9724-E474518FE239}" presName="spaceRect" presStyleCnt="0"/>
      <dgm:spPr/>
    </dgm:pt>
    <dgm:pt modelId="{85C53D7E-DE3C-4031-8946-1F46B5897901}" type="pres">
      <dgm:prSet presAssocID="{24BB6748-D43B-4D5B-9724-E474518FE239}" presName="textRect" presStyleLbl="revTx" presStyleIdx="4" presStyleCnt="6">
        <dgm:presLayoutVars>
          <dgm:chMax val="1"/>
          <dgm:chPref val="1"/>
        </dgm:presLayoutVars>
      </dgm:prSet>
      <dgm:spPr/>
    </dgm:pt>
    <dgm:pt modelId="{B132EA50-F8FA-4EBA-B9DA-1CF3A2BB0AEF}" type="pres">
      <dgm:prSet presAssocID="{1E33B8D9-8EFF-4D54-93E5-84DAFF9A0B38}" presName="sibTrans" presStyleLbl="sibTrans2D1" presStyleIdx="0" presStyleCnt="0"/>
      <dgm:spPr/>
    </dgm:pt>
    <dgm:pt modelId="{1D1DEDAD-4E63-4C7C-B33A-6D7BD5A7F8B8}" type="pres">
      <dgm:prSet presAssocID="{56B68C19-7D3E-47FD-B7E4-D0A64A49BCBE}" presName="compNode" presStyleCnt="0"/>
      <dgm:spPr/>
    </dgm:pt>
    <dgm:pt modelId="{CF26E619-9505-41CE-B39C-61C7032A276A}" type="pres">
      <dgm:prSet presAssocID="{56B68C19-7D3E-47FD-B7E4-D0A64A49BCBE}" presName="iconBgRect" presStyleLbl="bgShp" presStyleIdx="5" presStyleCnt="6"/>
      <dgm:spPr/>
    </dgm:pt>
    <dgm:pt modelId="{A3937201-0332-4FC4-9E6A-D9CEE3C6DA5C}" type="pres">
      <dgm:prSet presAssocID="{56B68C19-7D3E-47FD-B7E4-D0A64A49BCBE}"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Streetcar"/>
        </a:ext>
      </dgm:extLst>
    </dgm:pt>
    <dgm:pt modelId="{22650A47-7CF0-4817-A081-DFF7A03E5C5A}" type="pres">
      <dgm:prSet presAssocID="{56B68C19-7D3E-47FD-B7E4-D0A64A49BCBE}" presName="spaceRect" presStyleCnt="0"/>
      <dgm:spPr/>
    </dgm:pt>
    <dgm:pt modelId="{F3D53B99-09D3-4643-AC37-45C4FCE85CCB}" type="pres">
      <dgm:prSet presAssocID="{56B68C19-7D3E-47FD-B7E4-D0A64A49BCBE}" presName="textRect" presStyleLbl="revTx" presStyleIdx="5" presStyleCnt="6">
        <dgm:presLayoutVars>
          <dgm:chMax val="1"/>
          <dgm:chPref val="1"/>
        </dgm:presLayoutVars>
      </dgm:prSet>
      <dgm:spPr/>
    </dgm:pt>
  </dgm:ptLst>
  <dgm:cxnLst>
    <dgm:cxn modelId="{BF8EB305-8951-4878-8A07-4DAB3474675C}" type="presOf" srcId="{4E4CE97C-F00B-4D8B-9CED-969B7BBC151D}" destId="{9976D6A9-E67C-42A7-A399-0EDABD2B995E}" srcOrd="0" destOrd="0" presId="urn:microsoft.com/office/officeart/2018/2/layout/IconCircleList"/>
    <dgm:cxn modelId="{4F32EA14-15D3-4E85-9655-9A5F0D039A07}" srcId="{0B9D39AC-4117-4F70-9B4C-90B23F050F2E}" destId="{56B68C19-7D3E-47FD-B7E4-D0A64A49BCBE}" srcOrd="5" destOrd="0" parTransId="{9CF5B9E6-7ECC-4263-B472-B159FFAE648B}" sibTransId="{B8880E11-F2EC-40DD-B2E9-F84EE44F3BE3}"/>
    <dgm:cxn modelId="{56930F1D-2AD7-43E8-8F85-EBF1E2E335CF}" srcId="{0B9D39AC-4117-4F70-9B4C-90B23F050F2E}" destId="{0D35D0CE-9BB9-42DD-940A-B4B11BDE5322}" srcOrd="2" destOrd="0" parTransId="{0F018055-883E-4E65-8B64-A60867408E2E}" sibTransId="{4E4CE97C-F00B-4D8B-9CED-969B7BBC151D}"/>
    <dgm:cxn modelId="{3F917568-A0CF-45FF-96A8-59406B0F59E1}" type="presOf" srcId="{24BB6748-D43B-4D5B-9724-E474518FE239}" destId="{85C53D7E-DE3C-4031-8946-1F46B5897901}" srcOrd="0" destOrd="0" presId="urn:microsoft.com/office/officeart/2018/2/layout/IconCircleList"/>
    <dgm:cxn modelId="{3BCA1C57-36DB-4C33-A8D2-E02E97717BF8}" srcId="{0B9D39AC-4117-4F70-9B4C-90B23F050F2E}" destId="{A625D442-E604-4673-9803-AAD4239AEF30}" srcOrd="0" destOrd="0" parTransId="{602E9BF5-8086-4CB5-AD63-882E2C815C94}" sibTransId="{98A42EED-0CA4-4144-9406-F678302A3373}"/>
    <dgm:cxn modelId="{4E771683-1A7F-4100-981C-FC00A08D6849}" type="presOf" srcId="{A625D442-E604-4673-9803-AAD4239AEF30}" destId="{84602457-850C-4A97-B99D-03181F49C0F7}" srcOrd="0" destOrd="0" presId="urn:microsoft.com/office/officeart/2018/2/layout/IconCircleList"/>
    <dgm:cxn modelId="{DF3D48A2-DD0B-475D-9A3A-5CCC477A2D8A}" srcId="{0B9D39AC-4117-4F70-9B4C-90B23F050F2E}" destId="{24BB6748-D43B-4D5B-9724-E474518FE239}" srcOrd="4" destOrd="0" parTransId="{9DDD9525-33A3-4B6D-92B5-7E97EABE77F9}" sibTransId="{1E33B8D9-8EFF-4D54-93E5-84DAFF9A0B38}"/>
    <dgm:cxn modelId="{0C0B32A5-5B39-4FA4-AA99-11DE917BB46F}" type="presOf" srcId="{1E33B8D9-8EFF-4D54-93E5-84DAFF9A0B38}" destId="{B132EA50-F8FA-4EBA-B9DA-1CF3A2BB0AEF}" srcOrd="0" destOrd="0" presId="urn:microsoft.com/office/officeart/2018/2/layout/IconCircleList"/>
    <dgm:cxn modelId="{DD7F9FAF-333A-4FDB-885C-A1746C21E1BC}" srcId="{0B9D39AC-4117-4F70-9B4C-90B23F050F2E}" destId="{5D3DD0CF-A7FD-4078-BF52-C211E99D18AE}" srcOrd="1" destOrd="0" parTransId="{5AFA8D61-388E-4B27-B549-784A8407839B}" sibTransId="{F3D34004-113A-435C-8300-A9B09434B743}"/>
    <dgm:cxn modelId="{334598BF-F70C-49A4-BB6B-A9B7E5C74E4D}" type="presOf" srcId="{56B68C19-7D3E-47FD-B7E4-D0A64A49BCBE}" destId="{F3D53B99-09D3-4643-AC37-45C4FCE85CCB}" srcOrd="0" destOrd="0" presId="urn:microsoft.com/office/officeart/2018/2/layout/IconCircleList"/>
    <dgm:cxn modelId="{50A96AC0-3515-4FBC-A3A9-FD7109CDED87}" type="presOf" srcId="{365AF1BA-7D57-4F18-934E-DD1AADA7799B}" destId="{34F433F5-B7ED-46D5-AB0D-821B27F874B4}" srcOrd="0" destOrd="0" presId="urn:microsoft.com/office/officeart/2018/2/layout/IconCircleList"/>
    <dgm:cxn modelId="{CACB6AD0-D39D-4A83-BFB2-638DA769FBD8}" type="presOf" srcId="{0B9D39AC-4117-4F70-9B4C-90B23F050F2E}" destId="{6FF8C6FE-0C08-4369-B605-06E61A304738}" srcOrd="0" destOrd="0" presId="urn:microsoft.com/office/officeart/2018/2/layout/IconCircleList"/>
    <dgm:cxn modelId="{558412D1-BEA4-4A0F-936B-DD2A0BC62B21}" type="presOf" srcId="{98A42EED-0CA4-4144-9406-F678302A3373}" destId="{3E2E6527-0AED-4363-B27E-C697294513D6}" srcOrd="0" destOrd="0" presId="urn:microsoft.com/office/officeart/2018/2/layout/IconCircleList"/>
    <dgm:cxn modelId="{17CF31D4-91C0-4879-B87D-D0B8BDA013D3}" srcId="{0B9D39AC-4117-4F70-9B4C-90B23F050F2E}" destId="{DF4B5BD6-CAFB-4EF0-AA69-8F952F303731}" srcOrd="3" destOrd="0" parTransId="{1BD3947C-511E-403B-A5B7-10FEE47D18E9}" sibTransId="{365AF1BA-7D57-4F18-934E-DD1AADA7799B}"/>
    <dgm:cxn modelId="{08D38AD4-4D0D-42E8-A348-5A3C320A0747}" type="presOf" srcId="{F3D34004-113A-435C-8300-A9B09434B743}" destId="{566B9E71-F964-4FEB-8512-A45A79CE98B9}" srcOrd="0" destOrd="0" presId="urn:microsoft.com/office/officeart/2018/2/layout/IconCircleList"/>
    <dgm:cxn modelId="{296482DD-C72B-4606-950A-6BB5F8E732BE}" type="presOf" srcId="{0D35D0CE-9BB9-42DD-940A-B4B11BDE5322}" destId="{716EF555-EF39-4A0F-82DC-8E2C42916F50}" srcOrd="0" destOrd="0" presId="urn:microsoft.com/office/officeart/2018/2/layout/IconCircleList"/>
    <dgm:cxn modelId="{57617AE4-BF4B-4703-B1DF-BE292A498FA4}" type="presOf" srcId="{DF4B5BD6-CAFB-4EF0-AA69-8F952F303731}" destId="{31915AB2-420A-4A4C-B737-C89BF061804C}" srcOrd="0" destOrd="0" presId="urn:microsoft.com/office/officeart/2018/2/layout/IconCircleList"/>
    <dgm:cxn modelId="{4E1775F6-3774-4718-9E54-C9E0C93A3F58}" type="presOf" srcId="{5D3DD0CF-A7FD-4078-BF52-C211E99D18AE}" destId="{42F4277B-51BB-4D6E-9BA8-1CA617173FB3}" srcOrd="0" destOrd="0" presId="urn:microsoft.com/office/officeart/2018/2/layout/IconCircleList"/>
    <dgm:cxn modelId="{7A9BB3D8-162E-4ED6-8067-7452A48CC792}" type="presParOf" srcId="{6FF8C6FE-0C08-4369-B605-06E61A304738}" destId="{AA331DF1-A7FC-4BFF-846E-00EF5B0A67E2}" srcOrd="0" destOrd="0" presId="urn:microsoft.com/office/officeart/2018/2/layout/IconCircleList"/>
    <dgm:cxn modelId="{27C13A59-C00F-4BF5-99C9-139205F586B2}" type="presParOf" srcId="{AA331DF1-A7FC-4BFF-846E-00EF5B0A67E2}" destId="{9C8ACD93-5956-4CF4-8BAE-D5B15BD9ABEF}" srcOrd="0" destOrd="0" presId="urn:microsoft.com/office/officeart/2018/2/layout/IconCircleList"/>
    <dgm:cxn modelId="{B40208A2-9FDC-43BA-B47C-98A1A9FA6AA4}" type="presParOf" srcId="{9C8ACD93-5956-4CF4-8BAE-D5B15BD9ABEF}" destId="{8567AE16-F74D-47B9-8124-44A2FF64781C}" srcOrd="0" destOrd="0" presId="urn:microsoft.com/office/officeart/2018/2/layout/IconCircleList"/>
    <dgm:cxn modelId="{1BCDF4D6-061C-463F-AD63-39B9C3A1CE54}" type="presParOf" srcId="{9C8ACD93-5956-4CF4-8BAE-D5B15BD9ABEF}" destId="{53B19C04-D2A7-4B26-9DEF-88226024313D}" srcOrd="1" destOrd="0" presId="urn:microsoft.com/office/officeart/2018/2/layout/IconCircleList"/>
    <dgm:cxn modelId="{F429FA2D-BF35-41A9-A16A-834056317649}" type="presParOf" srcId="{9C8ACD93-5956-4CF4-8BAE-D5B15BD9ABEF}" destId="{E486EA52-82DD-4D8A-BB67-4710DA8DF2A3}" srcOrd="2" destOrd="0" presId="urn:microsoft.com/office/officeart/2018/2/layout/IconCircleList"/>
    <dgm:cxn modelId="{071116E9-12E1-42E1-953B-D6268F142252}" type="presParOf" srcId="{9C8ACD93-5956-4CF4-8BAE-D5B15BD9ABEF}" destId="{84602457-850C-4A97-B99D-03181F49C0F7}" srcOrd="3" destOrd="0" presId="urn:microsoft.com/office/officeart/2018/2/layout/IconCircleList"/>
    <dgm:cxn modelId="{278CA6AD-AC37-45C8-869D-36083127E6A9}" type="presParOf" srcId="{AA331DF1-A7FC-4BFF-846E-00EF5B0A67E2}" destId="{3E2E6527-0AED-4363-B27E-C697294513D6}" srcOrd="1" destOrd="0" presId="urn:microsoft.com/office/officeart/2018/2/layout/IconCircleList"/>
    <dgm:cxn modelId="{1E4D3578-2DBB-40D7-990D-315F9B4E56E4}" type="presParOf" srcId="{AA331DF1-A7FC-4BFF-846E-00EF5B0A67E2}" destId="{B1507B79-8135-4C75-BF06-7667CC06C096}" srcOrd="2" destOrd="0" presId="urn:microsoft.com/office/officeart/2018/2/layout/IconCircleList"/>
    <dgm:cxn modelId="{44C3F454-4586-4034-B190-DB50D3E574B6}" type="presParOf" srcId="{B1507B79-8135-4C75-BF06-7667CC06C096}" destId="{428D56B1-3FB0-4459-AD42-5AC85581FAC2}" srcOrd="0" destOrd="0" presId="urn:microsoft.com/office/officeart/2018/2/layout/IconCircleList"/>
    <dgm:cxn modelId="{50A526E5-4529-4742-A50E-7B254EB72CE9}" type="presParOf" srcId="{B1507B79-8135-4C75-BF06-7667CC06C096}" destId="{56A3E03C-2CAE-4104-8D8C-DB515430DD19}" srcOrd="1" destOrd="0" presId="urn:microsoft.com/office/officeart/2018/2/layout/IconCircleList"/>
    <dgm:cxn modelId="{5CD1821C-04E7-403F-9F02-8893D78DFF42}" type="presParOf" srcId="{B1507B79-8135-4C75-BF06-7667CC06C096}" destId="{6D7C4826-0A19-4261-878C-8DC580148157}" srcOrd="2" destOrd="0" presId="urn:microsoft.com/office/officeart/2018/2/layout/IconCircleList"/>
    <dgm:cxn modelId="{EE515C1E-49EF-4AEA-B362-8FF66F0FFD3B}" type="presParOf" srcId="{B1507B79-8135-4C75-BF06-7667CC06C096}" destId="{42F4277B-51BB-4D6E-9BA8-1CA617173FB3}" srcOrd="3" destOrd="0" presId="urn:microsoft.com/office/officeart/2018/2/layout/IconCircleList"/>
    <dgm:cxn modelId="{15C096BC-65B4-40B0-AC26-4E4C65D9CC91}" type="presParOf" srcId="{AA331DF1-A7FC-4BFF-846E-00EF5B0A67E2}" destId="{566B9E71-F964-4FEB-8512-A45A79CE98B9}" srcOrd="3" destOrd="0" presId="urn:microsoft.com/office/officeart/2018/2/layout/IconCircleList"/>
    <dgm:cxn modelId="{B2C4DCFC-85E0-4AF9-AB89-90E6FB8A4D96}" type="presParOf" srcId="{AA331DF1-A7FC-4BFF-846E-00EF5B0A67E2}" destId="{BC85DF5A-B54B-4E23-8BF7-C57E026A064E}" srcOrd="4" destOrd="0" presId="urn:microsoft.com/office/officeart/2018/2/layout/IconCircleList"/>
    <dgm:cxn modelId="{E441117E-87DE-4E09-88D3-46E8A4925A9D}" type="presParOf" srcId="{BC85DF5A-B54B-4E23-8BF7-C57E026A064E}" destId="{184C31A0-F390-4666-8633-712FA8401B84}" srcOrd="0" destOrd="0" presId="urn:microsoft.com/office/officeart/2018/2/layout/IconCircleList"/>
    <dgm:cxn modelId="{281420FF-D815-43F4-A0C0-512899D0D838}" type="presParOf" srcId="{BC85DF5A-B54B-4E23-8BF7-C57E026A064E}" destId="{C04F6E19-AF4B-41FB-8329-DEC31B0A5541}" srcOrd="1" destOrd="0" presId="urn:microsoft.com/office/officeart/2018/2/layout/IconCircleList"/>
    <dgm:cxn modelId="{28F98A16-BCAD-4A90-83C7-D5C99DB5F3D5}" type="presParOf" srcId="{BC85DF5A-B54B-4E23-8BF7-C57E026A064E}" destId="{FD57A18F-D7FF-4D18-811F-E558E6797817}" srcOrd="2" destOrd="0" presId="urn:microsoft.com/office/officeart/2018/2/layout/IconCircleList"/>
    <dgm:cxn modelId="{1F0F937C-E396-4A48-9F56-45E3C2B4E19D}" type="presParOf" srcId="{BC85DF5A-B54B-4E23-8BF7-C57E026A064E}" destId="{716EF555-EF39-4A0F-82DC-8E2C42916F50}" srcOrd="3" destOrd="0" presId="urn:microsoft.com/office/officeart/2018/2/layout/IconCircleList"/>
    <dgm:cxn modelId="{36AD6891-2EE1-4649-B4B8-10E1EB33A0D3}" type="presParOf" srcId="{AA331DF1-A7FC-4BFF-846E-00EF5B0A67E2}" destId="{9976D6A9-E67C-42A7-A399-0EDABD2B995E}" srcOrd="5" destOrd="0" presId="urn:microsoft.com/office/officeart/2018/2/layout/IconCircleList"/>
    <dgm:cxn modelId="{8BDFC03B-D224-4C3C-9046-895E72A031D2}" type="presParOf" srcId="{AA331DF1-A7FC-4BFF-846E-00EF5B0A67E2}" destId="{48327712-5FA0-40B5-A59C-38EF237215C5}" srcOrd="6" destOrd="0" presId="urn:microsoft.com/office/officeart/2018/2/layout/IconCircleList"/>
    <dgm:cxn modelId="{9457C25A-4798-457D-85C4-EBCD765548CD}" type="presParOf" srcId="{48327712-5FA0-40B5-A59C-38EF237215C5}" destId="{1B79C842-7ABD-4047-B605-4A51811F03E6}" srcOrd="0" destOrd="0" presId="urn:microsoft.com/office/officeart/2018/2/layout/IconCircleList"/>
    <dgm:cxn modelId="{99EAC74D-8B05-4143-A1B1-B2F294C0ED5E}" type="presParOf" srcId="{48327712-5FA0-40B5-A59C-38EF237215C5}" destId="{B0D7C3E6-E52F-4398-A234-7AA52A6478E1}" srcOrd="1" destOrd="0" presId="urn:microsoft.com/office/officeart/2018/2/layout/IconCircleList"/>
    <dgm:cxn modelId="{45EA3B66-06AD-475F-8DAA-3A3EA380C430}" type="presParOf" srcId="{48327712-5FA0-40B5-A59C-38EF237215C5}" destId="{BD817747-3F01-47E0-B5C9-65977527D9A3}" srcOrd="2" destOrd="0" presId="urn:microsoft.com/office/officeart/2018/2/layout/IconCircleList"/>
    <dgm:cxn modelId="{AF23D34A-B37B-41DC-881B-A43458CF265A}" type="presParOf" srcId="{48327712-5FA0-40B5-A59C-38EF237215C5}" destId="{31915AB2-420A-4A4C-B737-C89BF061804C}" srcOrd="3" destOrd="0" presId="urn:microsoft.com/office/officeart/2018/2/layout/IconCircleList"/>
    <dgm:cxn modelId="{BAAEB1DD-EB35-4FC8-B813-B11E9ED1062B}" type="presParOf" srcId="{AA331DF1-A7FC-4BFF-846E-00EF5B0A67E2}" destId="{34F433F5-B7ED-46D5-AB0D-821B27F874B4}" srcOrd="7" destOrd="0" presId="urn:microsoft.com/office/officeart/2018/2/layout/IconCircleList"/>
    <dgm:cxn modelId="{DD0C2904-6D74-4F28-B4D7-FC777FBBF279}" type="presParOf" srcId="{AA331DF1-A7FC-4BFF-846E-00EF5B0A67E2}" destId="{648C627F-658A-4862-82CE-FE26498D194C}" srcOrd="8" destOrd="0" presId="urn:microsoft.com/office/officeart/2018/2/layout/IconCircleList"/>
    <dgm:cxn modelId="{ED9DED3F-0F01-4F22-9944-611F06E48553}" type="presParOf" srcId="{648C627F-658A-4862-82CE-FE26498D194C}" destId="{C0D8FC62-BF3F-402A-AEA0-7815EBE70764}" srcOrd="0" destOrd="0" presId="urn:microsoft.com/office/officeart/2018/2/layout/IconCircleList"/>
    <dgm:cxn modelId="{D9C1DD57-C891-4B7D-8F9E-39E785C637F1}" type="presParOf" srcId="{648C627F-658A-4862-82CE-FE26498D194C}" destId="{1068120D-1ADF-48A6-97D1-28FAC9FA90FA}" srcOrd="1" destOrd="0" presId="urn:microsoft.com/office/officeart/2018/2/layout/IconCircleList"/>
    <dgm:cxn modelId="{1F0D4E41-7481-4886-AE71-A049A8A9D95B}" type="presParOf" srcId="{648C627F-658A-4862-82CE-FE26498D194C}" destId="{16FE158C-E982-44CF-B056-1947F82ED759}" srcOrd="2" destOrd="0" presId="urn:microsoft.com/office/officeart/2018/2/layout/IconCircleList"/>
    <dgm:cxn modelId="{2D92F0ED-4D83-4E62-AAA1-D5DA45122158}" type="presParOf" srcId="{648C627F-658A-4862-82CE-FE26498D194C}" destId="{85C53D7E-DE3C-4031-8946-1F46B5897901}" srcOrd="3" destOrd="0" presId="urn:microsoft.com/office/officeart/2018/2/layout/IconCircleList"/>
    <dgm:cxn modelId="{187B44C9-B2C0-4ACF-A4C8-F16AB883803A}" type="presParOf" srcId="{AA331DF1-A7FC-4BFF-846E-00EF5B0A67E2}" destId="{B132EA50-F8FA-4EBA-B9DA-1CF3A2BB0AEF}" srcOrd="9" destOrd="0" presId="urn:microsoft.com/office/officeart/2018/2/layout/IconCircleList"/>
    <dgm:cxn modelId="{C6665362-BAF7-4FAC-B07C-272E88787187}" type="presParOf" srcId="{AA331DF1-A7FC-4BFF-846E-00EF5B0A67E2}" destId="{1D1DEDAD-4E63-4C7C-B33A-6D7BD5A7F8B8}" srcOrd="10" destOrd="0" presId="urn:microsoft.com/office/officeart/2018/2/layout/IconCircleList"/>
    <dgm:cxn modelId="{A44BADA8-A9A5-48BF-BC62-45ECFDF733B2}" type="presParOf" srcId="{1D1DEDAD-4E63-4C7C-B33A-6D7BD5A7F8B8}" destId="{CF26E619-9505-41CE-B39C-61C7032A276A}" srcOrd="0" destOrd="0" presId="urn:microsoft.com/office/officeart/2018/2/layout/IconCircleList"/>
    <dgm:cxn modelId="{303B4680-0206-49F2-9CB4-8ABE6C9835D8}" type="presParOf" srcId="{1D1DEDAD-4E63-4C7C-B33A-6D7BD5A7F8B8}" destId="{A3937201-0332-4FC4-9E6A-D9CEE3C6DA5C}" srcOrd="1" destOrd="0" presId="urn:microsoft.com/office/officeart/2018/2/layout/IconCircleList"/>
    <dgm:cxn modelId="{F3B364F1-A936-4FC5-9FB0-29476D4DBB0E}" type="presParOf" srcId="{1D1DEDAD-4E63-4C7C-B33A-6D7BD5A7F8B8}" destId="{22650A47-7CF0-4817-A081-DFF7A03E5C5A}" srcOrd="2" destOrd="0" presId="urn:microsoft.com/office/officeart/2018/2/layout/IconCircleList"/>
    <dgm:cxn modelId="{B5EC61AE-FD42-4D25-B3E5-50757205A1AF}" type="presParOf" srcId="{1D1DEDAD-4E63-4C7C-B33A-6D7BD5A7F8B8}" destId="{F3D53B99-09D3-4643-AC37-45C4FCE85CCB}"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6848785-02FF-4A8C-9AB7-8CCADACCA37C}" type="doc">
      <dgm:prSet loTypeId="urn:microsoft.com/office/officeart/2016/7/layout/RepeatingBendingProcessNew" loCatId="process" qsTypeId="urn:microsoft.com/office/officeart/2005/8/quickstyle/simple1" qsCatId="simple" csTypeId="urn:microsoft.com/office/officeart/2005/8/colors/colorful5" csCatId="colorful"/>
      <dgm:spPr/>
      <dgm:t>
        <a:bodyPr/>
        <a:lstStyle/>
        <a:p>
          <a:endParaRPr lang="en-US"/>
        </a:p>
      </dgm:t>
    </dgm:pt>
    <dgm:pt modelId="{D6F4FA7D-7D0A-47A4-97DF-1EB010DB2812}">
      <dgm:prSet/>
      <dgm:spPr/>
      <dgm:t>
        <a:bodyPr/>
        <a:lstStyle/>
        <a:p>
          <a:r>
            <a:rPr lang="en-US" b="0" i="0"/>
            <a:t>Introduce region-specific product assortments based on sales and customer demographics.</a:t>
          </a:r>
          <a:endParaRPr lang="en-US"/>
        </a:p>
      </dgm:t>
    </dgm:pt>
    <dgm:pt modelId="{523A56E4-7CD3-4B58-91FC-0C1114EBE440}" type="parTrans" cxnId="{CC558C59-A313-4A16-B090-585D6392388A}">
      <dgm:prSet/>
      <dgm:spPr/>
      <dgm:t>
        <a:bodyPr/>
        <a:lstStyle/>
        <a:p>
          <a:endParaRPr lang="en-US"/>
        </a:p>
      </dgm:t>
    </dgm:pt>
    <dgm:pt modelId="{223121C7-259F-4386-933C-ED638E73D8A7}" type="sibTrans" cxnId="{CC558C59-A313-4A16-B090-585D6392388A}">
      <dgm:prSet/>
      <dgm:spPr/>
      <dgm:t>
        <a:bodyPr/>
        <a:lstStyle/>
        <a:p>
          <a:endParaRPr lang="en-US"/>
        </a:p>
      </dgm:t>
    </dgm:pt>
    <dgm:pt modelId="{8B7A1527-2437-450C-A2A3-6B0B31A63489}">
      <dgm:prSet/>
      <dgm:spPr/>
      <dgm:t>
        <a:bodyPr/>
        <a:lstStyle/>
        <a:p>
          <a:r>
            <a:rPr lang="en-US" b="0" i="0"/>
            <a:t>Invest in technology integration for dynamic pricing and demand-based discounts.</a:t>
          </a:r>
          <a:endParaRPr lang="en-US"/>
        </a:p>
      </dgm:t>
    </dgm:pt>
    <dgm:pt modelId="{76BEF025-1DB8-4322-B138-582D977A67BE}" type="parTrans" cxnId="{C0DA2778-6218-4C3F-9896-80D860D3FD1C}">
      <dgm:prSet/>
      <dgm:spPr/>
      <dgm:t>
        <a:bodyPr/>
        <a:lstStyle/>
        <a:p>
          <a:endParaRPr lang="en-US"/>
        </a:p>
      </dgm:t>
    </dgm:pt>
    <dgm:pt modelId="{BF657243-F873-47C0-B66B-9A9DA87CF70F}" type="sibTrans" cxnId="{C0DA2778-6218-4C3F-9896-80D860D3FD1C}">
      <dgm:prSet/>
      <dgm:spPr/>
      <dgm:t>
        <a:bodyPr/>
        <a:lstStyle/>
        <a:p>
          <a:endParaRPr lang="en-US"/>
        </a:p>
      </dgm:t>
    </dgm:pt>
    <dgm:pt modelId="{E68DB6A4-656A-411A-9689-B3E4B30E6E22}">
      <dgm:prSet/>
      <dgm:spPr/>
      <dgm:t>
        <a:bodyPr/>
        <a:lstStyle/>
        <a:p>
          <a:r>
            <a:rPr lang="en-US" b="0" i="0"/>
            <a:t>Enhance supplier partnerships to reduce stockouts in high-demand categories.</a:t>
          </a:r>
          <a:endParaRPr lang="en-US"/>
        </a:p>
      </dgm:t>
    </dgm:pt>
    <dgm:pt modelId="{51FDA773-68D8-4B51-8558-47F137E597D9}" type="parTrans" cxnId="{D05EBBAE-961D-40F1-BD93-A854F45A59B2}">
      <dgm:prSet/>
      <dgm:spPr/>
      <dgm:t>
        <a:bodyPr/>
        <a:lstStyle/>
        <a:p>
          <a:endParaRPr lang="en-US"/>
        </a:p>
      </dgm:t>
    </dgm:pt>
    <dgm:pt modelId="{524A0B4E-6918-4191-9FC0-9DDBBA5B8BDB}" type="sibTrans" cxnId="{D05EBBAE-961D-40F1-BD93-A854F45A59B2}">
      <dgm:prSet/>
      <dgm:spPr/>
      <dgm:t>
        <a:bodyPr/>
        <a:lstStyle/>
        <a:p>
          <a:endParaRPr lang="en-US"/>
        </a:p>
      </dgm:t>
    </dgm:pt>
    <dgm:pt modelId="{46F13139-1B32-4E2E-A35D-C392E3142065}">
      <dgm:prSet/>
      <dgm:spPr/>
      <dgm:t>
        <a:bodyPr/>
        <a:lstStyle/>
        <a:p>
          <a:r>
            <a:rPr lang="en-US" b="0" i="0"/>
            <a:t>Launch sustainability initiatives – eco-packaging and green logistics to attract eco-conscious buyers.</a:t>
          </a:r>
          <a:endParaRPr lang="en-US"/>
        </a:p>
      </dgm:t>
    </dgm:pt>
    <dgm:pt modelId="{61B0154E-41E6-46BF-8294-0C716E1B5EE0}" type="parTrans" cxnId="{ED8304FA-8D06-4704-A4C4-671B7FCDFEA6}">
      <dgm:prSet/>
      <dgm:spPr/>
      <dgm:t>
        <a:bodyPr/>
        <a:lstStyle/>
        <a:p>
          <a:endParaRPr lang="en-US"/>
        </a:p>
      </dgm:t>
    </dgm:pt>
    <dgm:pt modelId="{4B603D45-21F3-4754-A151-F2D9870C0072}" type="sibTrans" cxnId="{ED8304FA-8D06-4704-A4C4-671B7FCDFEA6}">
      <dgm:prSet/>
      <dgm:spPr/>
      <dgm:t>
        <a:bodyPr/>
        <a:lstStyle/>
        <a:p>
          <a:endParaRPr lang="en-US"/>
        </a:p>
      </dgm:t>
    </dgm:pt>
    <dgm:pt modelId="{3EC283B9-4792-4D25-82AD-BBD9F53C922D}">
      <dgm:prSet/>
      <dgm:spPr/>
      <dgm:t>
        <a:bodyPr/>
        <a:lstStyle/>
        <a:p>
          <a:r>
            <a:rPr lang="en-US" b="0" i="0"/>
            <a:t>Expand into unexplored geographic markets with digital-first campaigns.</a:t>
          </a:r>
          <a:endParaRPr lang="en-US"/>
        </a:p>
      </dgm:t>
    </dgm:pt>
    <dgm:pt modelId="{3B82479B-E83D-440B-9210-AEC312B92B43}" type="parTrans" cxnId="{9A8B4EB9-D39B-49C8-B88F-8BD2C6958A11}">
      <dgm:prSet/>
      <dgm:spPr/>
      <dgm:t>
        <a:bodyPr/>
        <a:lstStyle/>
        <a:p>
          <a:endParaRPr lang="en-US"/>
        </a:p>
      </dgm:t>
    </dgm:pt>
    <dgm:pt modelId="{272AE5BA-E30D-41F1-A749-F2F9D3C264A7}" type="sibTrans" cxnId="{9A8B4EB9-D39B-49C8-B88F-8BD2C6958A11}">
      <dgm:prSet/>
      <dgm:spPr/>
      <dgm:t>
        <a:bodyPr/>
        <a:lstStyle/>
        <a:p>
          <a:endParaRPr lang="en-US"/>
        </a:p>
      </dgm:t>
    </dgm:pt>
    <dgm:pt modelId="{69E2D214-C939-4C30-BD06-6E3FFDDBE0C8}">
      <dgm:prSet/>
      <dgm:spPr/>
      <dgm:t>
        <a:bodyPr/>
        <a:lstStyle/>
        <a:p>
          <a:r>
            <a:rPr lang="en-US" b="0" i="0"/>
            <a:t>Monitor forecast accuracy regularly to align production, marketing, and logistics efforts.</a:t>
          </a:r>
          <a:endParaRPr lang="en-US"/>
        </a:p>
      </dgm:t>
    </dgm:pt>
    <dgm:pt modelId="{1ACE68EA-909A-43CB-A6AD-94CA0D579D1D}" type="parTrans" cxnId="{60B2A1C6-DFA4-4BFD-A72F-117C4FE46192}">
      <dgm:prSet/>
      <dgm:spPr/>
      <dgm:t>
        <a:bodyPr/>
        <a:lstStyle/>
        <a:p>
          <a:endParaRPr lang="en-US"/>
        </a:p>
      </dgm:t>
    </dgm:pt>
    <dgm:pt modelId="{700B2AF3-5268-4E76-B03D-C9FC5C963309}" type="sibTrans" cxnId="{60B2A1C6-DFA4-4BFD-A72F-117C4FE46192}">
      <dgm:prSet/>
      <dgm:spPr/>
      <dgm:t>
        <a:bodyPr/>
        <a:lstStyle/>
        <a:p>
          <a:endParaRPr lang="en-US"/>
        </a:p>
      </dgm:t>
    </dgm:pt>
    <dgm:pt modelId="{5F92D5AF-AF76-447F-B0CD-12E95792E357}" type="pres">
      <dgm:prSet presAssocID="{56848785-02FF-4A8C-9AB7-8CCADACCA37C}" presName="Name0" presStyleCnt="0">
        <dgm:presLayoutVars>
          <dgm:dir/>
          <dgm:resizeHandles val="exact"/>
        </dgm:presLayoutVars>
      </dgm:prSet>
      <dgm:spPr/>
    </dgm:pt>
    <dgm:pt modelId="{F9574C3A-A18D-4FC8-BC54-B1AFB7FD6969}" type="pres">
      <dgm:prSet presAssocID="{D6F4FA7D-7D0A-47A4-97DF-1EB010DB2812}" presName="node" presStyleLbl="node1" presStyleIdx="0" presStyleCnt="6">
        <dgm:presLayoutVars>
          <dgm:bulletEnabled val="1"/>
        </dgm:presLayoutVars>
      </dgm:prSet>
      <dgm:spPr/>
    </dgm:pt>
    <dgm:pt modelId="{1FF66617-23D6-46FA-AF97-91E1595CAF8F}" type="pres">
      <dgm:prSet presAssocID="{223121C7-259F-4386-933C-ED638E73D8A7}" presName="sibTrans" presStyleLbl="sibTrans1D1" presStyleIdx="0" presStyleCnt="5"/>
      <dgm:spPr/>
    </dgm:pt>
    <dgm:pt modelId="{128E9053-9487-4A10-B512-7E3492BCED6D}" type="pres">
      <dgm:prSet presAssocID="{223121C7-259F-4386-933C-ED638E73D8A7}" presName="connectorText" presStyleLbl="sibTrans1D1" presStyleIdx="0" presStyleCnt="5"/>
      <dgm:spPr/>
    </dgm:pt>
    <dgm:pt modelId="{185C7C60-284D-428C-8C84-93E899ACA38C}" type="pres">
      <dgm:prSet presAssocID="{8B7A1527-2437-450C-A2A3-6B0B31A63489}" presName="node" presStyleLbl="node1" presStyleIdx="1" presStyleCnt="6">
        <dgm:presLayoutVars>
          <dgm:bulletEnabled val="1"/>
        </dgm:presLayoutVars>
      </dgm:prSet>
      <dgm:spPr/>
    </dgm:pt>
    <dgm:pt modelId="{C339867A-9FF3-4D2A-B839-0072AA9313FD}" type="pres">
      <dgm:prSet presAssocID="{BF657243-F873-47C0-B66B-9A9DA87CF70F}" presName="sibTrans" presStyleLbl="sibTrans1D1" presStyleIdx="1" presStyleCnt="5"/>
      <dgm:spPr/>
    </dgm:pt>
    <dgm:pt modelId="{25AC996C-96CF-4FB1-B559-50EEC04C14E8}" type="pres">
      <dgm:prSet presAssocID="{BF657243-F873-47C0-B66B-9A9DA87CF70F}" presName="connectorText" presStyleLbl="sibTrans1D1" presStyleIdx="1" presStyleCnt="5"/>
      <dgm:spPr/>
    </dgm:pt>
    <dgm:pt modelId="{8439593C-2A26-476F-BF9C-B3BD95D21CDE}" type="pres">
      <dgm:prSet presAssocID="{E68DB6A4-656A-411A-9689-B3E4B30E6E22}" presName="node" presStyleLbl="node1" presStyleIdx="2" presStyleCnt="6">
        <dgm:presLayoutVars>
          <dgm:bulletEnabled val="1"/>
        </dgm:presLayoutVars>
      </dgm:prSet>
      <dgm:spPr/>
    </dgm:pt>
    <dgm:pt modelId="{999B844A-68B0-4B26-9FC1-2470BEE48591}" type="pres">
      <dgm:prSet presAssocID="{524A0B4E-6918-4191-9FC0-9DDBBA5B8BDB}" presName="sibTrans" presStyleLbl="sibTrans1D1" presStyleIdx="2" presStyleCnt="5"/>
      <dgm:spPr/>
    </dgm:pt>
    <dgm:pt modelId="{1279F00D-6054-4069-BDE6-38231CF6AC0E}" type="pres">
      <dgm:prSet presAssocID="{524A0B4E-6918-4191-9FC0-9DDBBA5B8BDB}" presName="connectorText" presStyleLbl="sibTrans1D1" presStyleIdx="2" presStyleCnt="5"/>
      <dgm:spPr/>
    </dgm:pt>
    <dgm:pt modelId="{F67B6BC1-1456-468B-8DF7-A9C251EC40E7}" type="pres">
      <dgm:prSet presAssocID="{46F13139-1B32-4E2E-A35D-C392E3142065}" presName="node" presStyleLbl="node1" presStyleIdx="3" presStyleCnt="6">
        <dgm:presLayoutVars>
          <dgm:bulletEnabled val="1"/>
        </dgm:presLayoutVars>
      </dgm:prSet>
      <dgm:spPr/>
    </dgm:pt>
    <dgm:pt modelId="{7DEB76EF-72AA-40B6-9215-C2F3711FDE7A}" type="pres">
      <dgm:prSet presAssocID="{4B603D45-21F3-4754-A151-F2D9870C0072}" presName="sibTrans" presStyleLbl="sibTrans1D1" presStyleIdx="3" presStyleCnt="5"/>
      <dgm:spPr/>
    </dgm:pt>
    <dgm:pt modelId="{01236FAD-A11D-42CE-8F75-F6D7B54BE57C}" type="pres">
      <dgm:prSet presAssocID="{4B603D45-21F3-4754-A151-F2D9870C0072}" presName="connectorText" presStyleLbl="sibTrans1D1" presStyleIdx="3" presStyleCnt="5"/>
      <dgm:spPr/>
    </dgm:pt>
    <dgm:pt modelId="{E8BAEDB0-98EF-4156-A4AD-C68B5AD1D2C2}" type="pres">
      <dgm:prSet presAssocID="{3EC283B9-4792-4D25-82AD-BBD9F53C922D}" presName="node" presStyleLbl="node1" presStyleIdx="4" presStyleCnt="6">
        <dgm:presLayoutVars>
          <dgm:bulletEnabled val="1"/>
        </dgm:presLayoutVars>
      </dgm:prSet>
      <dgm:spPr/>
    </dgm:pt>
    <dgm:pt modelId="{F489EC3E-94A9-4680-88A0-0B905890DAF2}" type="pres">
      <dgm:prSet presAssocID="{272AE5BA-E30D-41F1-A749-F2F9D3C264A7}" presName="sibTrans" presStyleLbl="sibTrans1D1" presStyleIdx="4" presStyleCnt="5"/>
      <dgm:spPr/>
    </dgm:pt>
    <dgm:pt modelId="{AC5A366A-3186-4E46-8E43-40FC4C63AD15}" type="pres">
      <dgm:prSet presAssocID="{272AE5BA-E30D-41F1-A749-F2F9D3C264A7}" presName="connectorText" presStyleLbl="sibTrans1D1" presStyleIdx="4" presStyleCnt="5"/>
      <dgm:spPr/>
    </dgm:pt>
    <dgm:pt modelId="{6051B9D1-6EAB-4286-8BCB-0D8045B4405A}" type="pres">
      <dgm:prSet presAssocID="{69E2D214-C939-4C30-BD06-6E3FFDDBE0C8}" presName="node" presStyleLbl="node1" presStyleIdx="5" presStyleCnt="6">
        <dgm:presLayoutVars>
          <dgm:bulletEnabled val="1"/>
        </dgm:presLayoutVars>
      </dgm:prSet>
      <dgm:spPr/>
    </dgm:pt>
  </dgm:ptLst>
  <dgm:cxnLst>
    <dgm:cxn modelId="{70C1EA03-EDD2-4F4C-9BF8-17E35DBCC4B8}" type="presOf" srcId="{D6F4FA7D-7D0A-47A4-97DF-1EB010DB2812}" destId="{F9574C3A-A18D-4FC8-BC54-B1AFB7FD6969}" srcOrd="0" destOrd="0" presId="urn:microsoft.com/office/officeart/2016/7/layout/RepeatingBendingProcessNew"/>
    <dgm:cxn modelId="{B2512B6A-BE1D-4AD0-BB3C-26DC22A7327D}" type="presOf" srcId="{BF657243-F873-47C0-B66B-9A9DA87CF70F}" destId="{C339867A-9FF3-4D2A-B839-0072AA9313FD}" srcOrd="0" destOrd="0" presId="urn:microsoft.com/office/officeart/2016/7/layout/RepeatingBendingProcessNew"/>
    <dgm:cxn modelId="{32153F4C-4C0F-40E3-90FC-F8879BF15478}" type="presOf" srcId="{3EC283B9-4792-4D25-82AD-BBD9F53C922D}" destId="{E8BAEDB0-98EF-4156-A4AD-C68B5AD1D2C2}" srcOrd="0" destOrd="0" presId="urn:microsoft.com/office/officeart/2016/7/layout/RepeatingBendingProcessNew"/>
    <dgm:cxn modelId="{7202CA6F-CE74-4130-B2C2-56099503F8FB}" type="presOf" srcId="{272AE5BA-E30D-41F1-A749-F2F9D3C264A7}" destId="{F489EC3E-94A9-4680-88A0-0B905890DAF2}" srcOrd="0" destOrd="0" presId="urn:microsoft.com/office/officeart/2016/7/layout/RepeatingBendingProcessNew"/>
    <dgm:cxn modelId="{C0DA2778-6218-4C3F-9896-80D860D3FD1C}" srcId="{56848785-02FF-4A8C-9AB7-8CCADACCA37C}" destId="{8B7A1527-2437-450C-A2A3-6B0B31A63489}" srcOrd="1" destOrd="0" parTransId="{76BEF025-1DB8-4322-B138-582D977A67BE}" sibTransId="{BF657243-F873-47C0-B66B-9A9DA87CF70F}"/>
    <dgm:cxn modelId="{F2715D58-F9EA-48D0-95E9-A04F45867E8A}" type="presOf" srcId="{272AE5BA-E30D-41F1-A749-F2F9D3C264A7}" destId="{AC5A366A-3186-4E46-8E43-40FC4C63AD15}" srcOrd="1" destOrd="0" presId="urn:microsoft.com/office/officeart/2016/7/layout/RepeatingBendingProcessNew"/>
    <dgm:cxn modelId="{CC558C59-A313-4A16-B090-585D6392388A}" srcId="{56848785-02FF-4A8C-9AB7-8CCADACCA37C}" destId="{D6F4FA7D-7D0A-47A4-97DF-1EB010DB2812}" srcOrd="0" destOrd="0" parTransId="{523A56E4-7CD3-4B58-91FC-0C1114EBE440}" sibTransId="{223121C7-259F-4386-933C-ED638E73D8A7}"/>
    <dgm:cxn modelId="{78CD4291-6B36-4927-A276-7E5E68462E8E}" type="presOf" srcId="{524A0B4E-6918-4191-9FC0-9DDBBA5B8BDB}" destId="{1279F00D-6054-4069-BDE6-38231CF6AC0E}" srcOrd="1" destOrd="0" presId="urn:microsoft.com/office/officeart/2016/7/layout/RepeatingBendingProcessNew"/>
    <dgm:cxn modelId="{69855F93-1270-4242-B2BC-948FB3037796}" type="presOf" srcId="{BF657243-F873-47C0-B66B-9A9DA87CF70F}" destId="{25AC996C-96CF-4FB1-B559-50EEC04C14E8}" srcOrd="1" destOrd="0" presId="urn:microsoft.com/office/officeart/2016/7/layout/RepeatingBendingProcessNew"/>
    <dgm:cxn modelId="{DE065893-C1D0-4FD3-BC79-6E552168C6E9}" type="presOf" srcId="{46F13139-1B32-4E2E-A35D-C392E3142065}" destId="{F67B6BC1-1456-468B-8DF7-A9C251EC40E7}" srcOrd="0" destOrd="0" presId="urn:microsoft.com/office/officeart/2016/7/layout/RepeatingBendingProcessNew"/>
    <dgm:cxn modelId="{9AAB539C-F9BE-488D-B46F-F20CF0C5FB84}" type="presOf" srcId="{223121C7-259F-4386-933C-ED638E73D8A7}" destId="{128E9053-9487-4A10-B512-7E3492BCED6D}" srcOrd="1" destOrd="0" presId="urn:microsoft.com/office/officeart/2016/7/layout/RepeatingBendingProcessNew"/>
    <dgm:cxn modelId="{9CC4E0A0-DD00-4B86-AAC7-BA661A19F417}" type="presOf" srcId="{56848785-02FF-4A8C-9AB7-8CCADACCA37C}" destId="{5F92D5AF-AF76-447F-B0CD-12E95792E357}" srcOrd="0" destOrd="0" presId="urn:microsoft.com/office/officeart/2016/7/layout/RepeatingBendingProcessNew"/>
    <dgm:cxn modelId="{D05EBBAE-961D-40F1-BD93-A854F45A59B2}" srcId="{56848785-02FF-4A8C-9AB7-8CCADACCA37C}" destId="{E68DB6A4-656A-411A-9689-B3E4B30E6E22}" srcOrd="2" destOrd="0" parTransId="{51FDA773-68D8-4B51-8558-47F137E597D9}" sibTransId="{524A0B4E-6918-4191-9FC0-9DDBBA5B8BDB}"/>
    <dgm:cxn modelId="{9A8B4EB9-D39B-49C8-B88F-8BD2C6958A11}" srcId="{56848785-02FF-4A8C-9AB7-8CCADACCA37C}" destId="{3EC283B9-4792-4D25-82AD-BBD9F53C922D}" srcOrd="4" destOrd="0" parTransId="{3B82479B-E83D-440B-9210-AEC312B92B43}" sibTransId="{272AE5BA-E30D-41F1-A749-F2F9D3C264A7}"/>
    <dgm:cxn modelId="{347E23BC-85E2-4440-B568-7CAD6FD97506}" type="presOf" srcId="{223121C7-259F-4386-933C-ED638E73D8A7}" destId="{1FF66617-23D6-46FA-AF97-91E1595CAF8F}" srcOrd="0" destOrd="0" presId="urn:microsoft.com/office/officeart/2016/7/layout/RepeatingBendingProcessNew"/>
    <dgm:cxn modelId="{F37FBEC4-50AA-4672-95E4-BF4E7AC9E0A3}" type="presOf" srcId="{8B7A1527-2437-450C-A2A3-6B0B31A63489}" destId="{185C7C60-284D-428C-8C84-93E899ACA38C}" srcOrd="0" destOrd="0" presId="urn:microsoft.com/office/officeart/2016/7/layout/RepeatingBendingProcessNew"/>
    <dgm:cxn modelId="{60B2A1C6-DFA4-4BFD-A72F-117C4FE46192}" srcId="{56848785-02FF-4A8C-9AB7-8CCADACCA37C}" destId="{69E2D214-C939-4C30-BD06-6E3FFDDBE0C8}" srcOrd="5" destOrd="0" parTransId="{1ACE68EA-909A-43CB-A6AD-94CA0D579D1D}" sibTransId="{700B2AF3-5268-4E76-B03D-C9FC5C963309}"/>
    <dgm:cxn modelId="{D5643BCB-5D08-48BD-BB90-1959C0CA7A1F}" type="presOf" srcId="{4B603D45-21F3-4754-A151-F2D9870C0072}" destId="{7DEB76EF-72AA-40B6-9215-C2F3711FDE7A}" srcOrd="0" destOrd="0" presId="urn:microsoft.com/office/officeart/2016/7/layout/RepeatingBendingProcessNew"/>
    <dgm:cxn modelId="{B2807AD2-0C6A-4B4D-B3CB-B2FB23D6AC19}" type="presOf" srcId="{69E2D214-C939-4C30-BD06-6E3FFDDBE0C8}" destId="{6051B9D1-6EAB-4286-8BCB-0D8045B4405A}" srcOrd="0" destOrd="0" presId="urn:microsoft.com/office/officeart/2016/7/layout/RepeatingBendingProcessNew"/>
    <dgm:cxn modelId="{26245CD7-5521-4DF8-9795-6C77D0EBEC58}" type="presOf" srcId="{E68DB6A4-656A-411A-9689-B3E4B30E6E22}" destId="{8439593C-2A26-476F-BF9C-B3BD95D21CDE}" srcOrd="0" destOrd="0" presId="urn:microsoft.com/office/officeart/2016/7/layout/RepeatingBendingProcessNew"/>
    <dgm:cxn modelId="{D62D11DF-928A-4E8F-8922-28EDDE87FC61}" type="presOf" srcId="{4B603D45-21F3-4754-A151-F2D9870C0072}" destId="{01236FAD-A11D-42CE-8F75-F6D7B54BE57C}" srcOrd="1" destOrd="0" presId="urn:microsoft.com/office/officeart/2016/7/layout/RepeatingBendingProcessNew"/>
    <dgm:cxn modelId="{ED8304FA-8D06-4704-A4C4-671B7FCDFEA6}" srcId="{56848785-02FF-4A8C-9AB7-8CCADACCA37C}" destId="{46F13139-1B32-4E2E-A35D-C392E3142065}" srcOrd="3" destOrd="0" parTransId="{61B0154E-41E6-46BF-8294-0C716E1B5EE0}" sibTransId="{4B603D45-21F3-4754-A151-F2D9870C0072}"/>
    <dgm:cxn modelId="{1CCA1BFA-0091-485A-9F7B-FF7055D228A8}" type="presOf" srcId="{524A0B4E-6918-4191-9FC0-9DDBBA5B8BDB}" destId="{999B844A-68B0-4B26-9FC1-2470BEE48591}" srcOrd="0" destOrd="0" presId="urn:microsoft.com/office/officeart/2016/7/layout/RepeatingBendingProcessNew"/>
    <dgm:cxn modelId="{36F0D49D-3768-465E-B793-CCC4AA7AA30C}" type="presParOf" srcId="{5F92D5AF-AF76-447F-B0CD-12E95792E357}" destId="{F9574C3A-A18D-4FC8-BC54-B1AFB7FD6969}" srcOrd="0" destOrd="0" presId="urn:microsoft.com/office/officeart/2016/7/layout/RepeatingBendingProcessNew"/>
    <dgm:cxn modelId="{B55D81AF-F363-4C84-BC2F-B16182DC465B}" type="presParOf" srcId="{5F92D5AF-AF76-447F-B0CD-12E95792E357}" destId="{1FF66617-23D6-46FA-AF97-91E1595CAF8F}" srcOrd="1" destOrd="0" presId="urn:microsoft.com/office/officeart/2016/7/layout/RepeatingBendingProcessNew"/>
    <dgm:cxn modelId="{C188DFE0-F5FA-45D0-876D-3CA7B03CA63C}" type="presParOf" srcId="{1FF66617-23D6-46FA-AF97-91E1595CAF8F}" destId="{128E9053-9487-4A10-B512-7E3492BCED6D}" srcOrd="0" destOrd="0" presId="urn:microsoft.com/office/officeart/2016/7/layout/RepeatingBendingProcessNew"/>
    <dgm:cxn modelId="{5CAF40AE-A90A-442A-B31F-84BE31EB2FA1}" type="presParOf" srcId="{5F92D5AF-AF76-447F-B0CD-12E95792E357}" destId="{185C7C60-284D-428C-8C84-93E899ACA38C}" srcOrd="2" destOrd="0" presId="urn:microsoft.com/office/officeart/2016/7/layout/RepeatingBendingProcessNew"/>
    <dgm:cxn modelId="{FB747B69-5D21-4A78-8E76-B804B8E48717}" type="presParOf" srcId="{5F92D5AF-AF76-447F-B0CD-12E95792E357}" destId="{C339867A-9FF3-4D2A-B839-0072AA9313FD}" srcOrd="3" destOrd="0" presId="urn:microsoft.com/office/officeart/2016/7/layout/RepeatingBendingProcessNew"/>
    <dgm:cxn modelId="{0305765B-798F-47FD-9B70-54851F84FCE8}" type="presParOf" srcId="{C339867A-9FF3-4D2A-B839-0072AA9313FD}" destId="{25AC996C-96CF-4FB1-B559-50EEC04C14E8}" srcOrd="0" destOrd="0" presId="urn:microsoft.com/office/officeart/2016/7/layout/RepeatingBendingProcessNew"/>
    <dgm:cxn modelId="{67BCF139-1DB2-4BDF-B8EC-ECD2628C7AE2}" type="presParOf" srcId="{5F92D5AF-AF76-447F-B0CD-12E95792E357}" destId="{8439593C-2A26-476F-BF9C-B3BD95D21CDE}" srcOrd="4" destOrd="0" presId="urn:microsoft.com/office/officeart/2016/7/layout/RepeatingBendingProcessNew"/>
    <dgm:cxn modelId="{509C6901-0F9D-4D4C-AABE-10E56C1A3692}" type="presParOf" srcId="{5F92D5AF-AF76-447F-B0CD-12E95792E357}" destId="{999B844A-68B0-4B26-9FC1-2470BEE48591}" srcOrd="5" destOrd="0" presId="urn:microsoft.com/office/officeart/2016/7/layout/RepeatingBendingProcessNew"/>
    <dgm:cxn modelId="{255BEDC3-8C58-484E-BCD8-B798D9DA699D}" type="presParOf" srcId="{999B844A-68B0-4B26-9FC1-2470BEE48591}" destId="{1279F00D-6054-4069-BDE6-38231CF6AC0E}" srcOrd="0" destOrd="0" presId="urn:microsoft.com/office/officeart/2016/7/layout/RepeatingBendingProcessNew"/>
    <dgm:cxn modelId="{D3363899-8D5F-4868-8036-AD5E94DB7E8C}" type="presParOf" srcId="{5F92D5AF-AF76-447F-B0CD-12E95792E357}" destId="{F67B6BC1-1456-468B-8DF7-A9C251EC40E7}" srcOrd="6" destOrd="0" presId="urn:microsoft.com/office/officeart/2016/7/layout/RepeatingBendingProcessNew"/>
    <dgm:cxn modelId="{FCBB0A07-9EEA-461B-A27B-5A3A1A73D845}" type="presParOf" srcId="{5F92D5AF-AF76-447F-B0CD-12E95792E357}" destId="{7DEB76EF-72AA-40B6-9215-C2F3711FDE7A}" srcOrd="7" destOrd="0" presId="urn:microsoft.com/office/officeart/2016/7/layout/RepeatingBendingProcessNew"/>
    <dgm:cxn modelId="{934B4E23-DFAE-4FF0-BD60-B8E2E4780371}" type="presParOf" srcId="{7DEB76EF-72AA-40B6-9215-C2F3711FDE7A}" destId="{01236FAD-A11D-42CE-8F75-F6D7B54BE57C}" srcOrd="0" destOrd="0" presId="urn:microsoft.com/office/officeart/2016/7/layout/RepeatingBendingProcessNew"/>
    <dgm:cxn modelId="{4D055247-EC59-472F-9F01-A24A34D48AD7}" type="presParOf" srcId="{5F92D5AF-AF76-447F-B0CD-12E95792E357}" destId="{E8BAEDB0-98EF-4156-A4AD-C68B5AD1D2C2}" srcOrd="8" destOrd="0" presId="urn:microsoft.com/office/officeart/2016/7/layout/RepeatingBendingProcessNew"/>
    <dgm:cxn modelId="{B8F0D3CF-D6B9-4FE0-87B7-73ADFE5EC4B0}" type="presParOf" srcId="{5F92D5AF-AF76-447F-B0CD-12E95792E357}" destId="{F489EC3E-94A9-4680-88A0-0B905890DAF2}" srcOrd="9" destOrd="0" presId="urn:microsoft.com/office/officeart/2016/7/layout/RepeatingBendingProcessNew"/>
    <dgm:cxn modelId="{026039A7-023C-45FF-900B-FC9F75AB2082}" type="presParOf" srcId="{F489EC3E-94A9-4680-88A0-0B905890DAF2}" destId="{AC5A366A-3186-4E46-8E43-40FC4C63AD15}" srcOrd="0" destOrd="0" presId="urn:microsoft.com/office/officeart/2016/7/layout/RepeatingBendingProcessNew"/>
    <dgm:cxn modelId="{294BF300-241C-44B7-9BB3-0DF88D8F9B2B}" type="presParOf" srcId="{5F92D5AF-AF76-447F-B0CD-12E95792E357}" destId="{6051B9D1-6EAB-4286-8BCB-0D8045B4405A}"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00E76B-170F-4EB3-B053-017ED77DBE77}">
      <dsp:nvSpPr>
        <dsp:cNvPr id="0" name=""/>
        <dsp:cNvSpPr/>
      </dsp:nvSpPr>
      <dsp:spPr>
        <a:xfrm>
          <a:off x="1375656" y="41930"/>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7E01D5-A50C-4099-BBD4-1518FD9475D5}">
      <dsp:nvSpPr>
        <dsp:cNvPr id="0" name=""/>
        <dsp:cNvSpPr/>
      </dsp:nvSpPr>
      <dsp:spPr>
        <a:xfrm>
          <a:off x="1609656" y="275931"/>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62AB62D-543D-44BB-8438-5ACBCA3A0806}">
      <dsp:nvSpPr>
        <dsp:cNvPr id="0" name=""/>
        <dsp:cNvSpPr/>
      </dsp:nvSpPr>
      <dsp:spPr>
        <a:xfrm>
          <a:off x="1024656" y="1481931"/>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b="0" i="0" kern="1200" dirty="0"/>
            <a:t>Total Sales: $1.6M across 22K transactions with an average sale of $175K</a:t>
          </a:r>
          <a:r>
            <a:rPr lang="en-US" sz="1100" b="0" i="0" kern="1200" dirty="0"/>
            <a:t>.</a:t>
          </a:r>
          <a:endParaRPr lang="en-US" sz="1100" kern="1200" dirty="0"/>
        </a:p>
      </dsp:txBody>
      <dsp:txXfrm>
        <a:off x="1024656" y="1481931"/>
        <a:ext cx="1800000" cy="855000"/>
      </dsp:txXfrm>
    </dsp:sp>
    <dsp:sp modelId="{B76F948A-3DBD-42EB-9496-30CE3504F312}">
      <dsp:nvSpPr>
        <dsp:cNvPr id="0" name=""/>
        <dsp:cNvSpPr/>
      </dsp:nvSpPr>
      <dsp:spPr>
        <a:xfrm>
          <a:off x="3490657" y="41930"/>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EF76B9-7005-4E1F-803D-46C958C00189}">
      <dsp:nvSpPr>
        <dsp:cNvPr id="0" name=""/>
        <dsp:cNvSpPr/>
      </dsp:nvSpPr>
      <dsp:spPr>
        <a:xfrm>
          <a:off x="3724657" y="275931"/>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DB3DBC5-DD00-400F-96B8-B10877B9C58C}">
      <dsp:nvSpPr>
        <dsp:cNvPr id="0" name=""/>
        <dsp:cNvSpPr/>
      </dsp:nvSpPr>
      <dsp:spPr>
        <a:xfrm>
          <a:off x="3139656" y="1481931"/>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b="0" i="0" kern="1200" dirty="0"/>
            <a:t>West region leads with 33% of total sales, followed by East (29%) and Central (22%).</a:t>
          </a:r>
          <a:endParaRPr lang="en-US" sz="1200" kern="1200" dirty="0"/>
        </a:p>
      </dsp:txBody>
      <dsp:txXfrm>
        <a:off x="3139656" y="1481931"/>
        <a:ext cx="1800000" cy="855000"/>
      </dsp:txXfrm>
    </dsp:sp>
    <dsp:sp modelId="{97F1EE87-9AF8-4295-8871-34D0F136451B}">
      <dsp:nvSpPr>
        <dsp:cNvPr id="0" name=""/>
        <dsp:cNvSpPr/>
      </dsp:nvSpPr>
      <dsp:spPr>
        <a:xfrm>
          <a:off x="5605656" y="41930"/>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C3BBC6-278B-4B52-8D32-823535161170}">
      <dsp:nvSpPr>
        <dsp:cNvPr id="0" name=""/>
        <dsp:cNvSpPr/>
      </dsp:nvSpPr>
      <dsp:spPr>
        <a:xfrm>
          <a:off x="5839656" y="275931"/>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852573C-1123-443A-AC4C-277D1D50B8DF}">
      <dsp:nvSpPr>
        <dsp:cNvPr id="0" name=""/>
        <dsp:cNvSpPr/>
      </dsp:nvSpPr>
      <dsp:spPr>
        <a:xfrm>
          <a:off x="5254656" y="1481931"/>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b="0" i="0" kern="1200" dirty="0"/>
            <a:t>Consumer segment dominates with 48% share, Corporate (33%), and Home Office (19%).</a:t>
          </a:r>
          <a:endParaRPr lang="en-US" sz="1200" kern="1200" dirty="0"/>
        </a:p>
      </dsp:txBody>
      <dsp:txXfrm>
        <a:off x="5254656" y="1481931"/>
        <a:ext cx="1800000" cy="855000"/>
      </dsp:txXfrm>
    </dsp:sp>
    <dsp:sp modelId="{AC88DCC3-32ED-4E8C-AFFD-54E6E5D225D5}">
      <dsp:nvSpPr>
        <dsp:cNvPr id="0" name=""/>
        <dsp:cNvSpPr/>
      </dsp:nvSpPr>
      <dsp:spPr>
        <a:xfrm>
          <a:off x="1375656" y="2786931"/>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C735E0-16A5-4EEE-9894-3A287A7D0DCF}">
      <dsp:nvSpPr>
        <dsp:cNvPr id="0" name=""/>
        <dsp:cNvSpPr/>
      </dsp:nvSpPr>
      <dsp:spPr>
        <a:xfrm>
          <a:off x="1609656" y="3020931"/>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92FC0A7-793D-4BC6-93AF-DF58E6D8B5BA}">
      <dsp:nvSpPr>
        <dsp:cNvPr id="0" name=""/>
        <dsp:cNvSpPr/>
      </dsp:nvSpPr>
      <dsp:spPr>
        <a:xfrm>
          <a:off x="1024656" y="4226931"/>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b="0" i="0" kern="1200"/>
            <a:t>COD is the preferred payment mode (43%), followed by Online (35%) and Cards (22%).</a:t>
          </a:r>
          <a:endParaRPr lang="en-US" sz="1200" kern="1200"/>
        </a:p>
      </dsp:txBody>
      <dsp:txXfrm>
        <a:off x="1024656" y="4226931"/>
        <a:ext cx="1800000" cy="855000"/>
      </dsp:txXfrm>
    </dsp:sp>
    <dsp:sp modelId="{81E4C597-0F97-4B29-8601-E4E7217E07F6}">
      <dsp:nvSpPr>
        <dsp:cNvPr id="0" name=""/>
        <dsp:cNvSpPr/>
      </dsp:nvSpPr>
      <dsp:spPr>
        <a:xfrm>
          <a:off x="3490657" y="2786931"/>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9DB62B-55C1-493C-BA7C-983F633535BD}">
      <dsp:nvSpPr>
        <dsp:cNvPr id="0" name=""/>
        <dsp:cNvSpPr/>
      </dsp:nvSpPr>
      <dsp:spPr>
        <a:xfrm>
          <a:off x="3724657" y="3020931"/>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6F411D0-B92D-49A0-A986-5E79404789EA}">
      <dsp:nvSpPr>
        <dsp:cNvPr id="0" name=""/>
        <dsp:cNvSpPr/>
      </dsp:nvSpPr>
      <dsp:spPr>
        <a:xfrm>
          <a:off x="3139656" y="4226931"/>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b="0" i="0" kern="1200" dirty="0"/>
            <a:t>Average delivery time of 4 days indicates efficient logistics operations.</a:t>
          </a:r>
          <a:endParaRPr lang="en-US" sz="1200" kern="1200" dirty="0"/>
        </a:p>
      </dsp:txBody>
      <dsp:txXfrm>
        <a:off x="3139656" y="4226931"/>
        <a:ext cx="1800000" cy="855000"/>
      </dsp:txXfrm>
    </dsp:sp>
    <dsp:sp modelId="{A75C0A0E-B8E0-4278-B0A1-EFAE37063982}">
      <dsp:nvSpPr>
        <dsp:cNvPr id="0" name=""/>
        <dsp:cNvSpPr/>
      </dsp:nvSpPr>
      <dsp:spPr>
        <a:xfrm>
          <a:off x="5605656" y="2786931"/>
          <a:ext cx="1098000" cy="1098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ECA447-B9E5-4C39-81D0-2A30302E012A}">
      <dsp:nvSpPr>
        <dsp:cNvPr id="0" name=""/>
        <dsp:cNvSpPr/>
      </dsp:nvSpPr>
      <dsp:spPr>
        <a:xfrm>
          <a:off x="5839656" y="3020931"/>
          <a:ext cx="630000" cy="63000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D2F441C-9A4E-4B81-9149-2FC3D96300BB}">
      <dsp:nvSpPr>
        <dsp:cNvPr id="0" name=""/>
        <dsp:cNvSpPr/>
      </dsp:nvSpPr>
      <dsp:spPr>
        <a:xfrm>
          <a:off x="5254656" y="4226931"/>
          <a:ext cx="1800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b="0" i="0" kern="1200"/>
            <a:t>Sales growth pattern shows consistent year-on-year improvement across months.</a:t>
          </a:r>
          <a:endParaRPr lang="en-US" sz="1200" kern="1200"/>
        </a:p>
      </dsp:txBody>
      <dsp:txXfrm>
        <a:off x="5254656" y="4226931"/>
        <a:ext cx="1800000" cy="855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7D5B8-E4FC-4C08-8A25-BD37B2FA746B}">
      <dsp:nvSpPr>
        <dsp:cNvPr id="0" name=""/>
        <dsp:cNvSpPr/>
      </dsp:nvSpPr>
      <dsp:spPr>
        <a:xfrm>
          <a:off x="467635" y="695606"/>
          <a:ext cx="4147981" cy="4147981"/>
        </a:xfrm>
        <a:prstGeom prst="pie">
          <a:avLst>
            <a:gd name="adj1" fmla="val 16200000"/>
            <a:gd name="adj2" fmla="val 2052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0" i="0" kern="1200" dirty="0"/>
            <a:t>Technology category generates the highest revenue at $0.64M, followed by Office Supplies ($0.47M) and Furniture ($0.45M).</a:t>
          </a:r>
          <a:endParaRPr lang="en-US" sz="1100" kern="1200" dirty="0"/>
        </a:p>
      </dsp:txBody>
      <dsp:txXfrm>
        <a:off x="2593969" y="1315335"/>
        <a:ext cx="1407350" cy="962924"/>
      </dsp:txXfrm>
    </dsp:sp>
    <dsp:sp modelId="{E956E139-5FEC-4D4E-93DB-D07D9CEA1554}">
      <dsp:nvSpPr>
        <dsp:cNvPr id="0" name=""/>
        <dsp:cNvSpPr/>
      </dsp:nvSpPr>
      <dsp:spPr>
        <a:xfrm>
          <a:off x="322456" y="895598"/>
          <a:ext cx="4147981" cy="4147981"/>
        </a:xfrm>
        <a:prstGeom prst="pie">
          <a:avLst>
            <a:gd name="adj1" fmla="val 20520000"/>
            <a:gd name="adj2" fmla="val 324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0" i="0" kern="1200" dirty="0"/>
            <a:t>Top-performing sub-categories: Phones ($0.20M), Chairs ($0.18M), Binders ($0.17M), and Storage ($0.15M).</a:t>
          </a:r>
          <a:endParaRPr lang="en-US" sz="1100" kern="1200" dirty="0"/>
        </a:p>
      </dsp:txBody>
      <dsp:txXfrm>
        <a:off x="3033458" y="2772066"/>
        <a:ext cx="1234518" cy="1041933"/>
      </dsp:txXfrm>
    </dsp:sp>
    <dsp:sp modelId="{D190833E-28BA-45E9-9440-185FB6B4618C}">
      <dsp:nvSpPr>
        <dsp:cNvPr id="0" name=""/>
        <dsp:cNvSpPr/>
      </dsp:nvSpPr>
      <dsp:spPr>
        <a:xfrm>
          <a:off x="322456" y="895598"/>
          <a:ext cx="4147981" cy="4147981"/>
        </a:xfrm>
        <a:prstGeom prst="pie">
          <a:avLst>
            <a:gd name="adj1" fmla="val 3240000"/>
            <a:gd name="adj2" fmla="val 756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0" i="0" kern="1200" dirty="0"/>
            <a:t>Standard class shipping dominates with $0.91M in sales – fast-moving category.</a:t>
          </a:r>
          <a:endParaRPr lang="en-US" sz="1200" kern="1200" dirty="0"/>
        </a:p>
      </dsp:txBody>
      <dsp:txXfrm>
        <a:off x="1655735" y="4006584"/>
        <a:ext cx="1481421" cy="888853"/>
      </dsp:txXfrm>
    </dsp:sp>
    <dsp:sp modelId="{EEF40514-9901-4791-BEE8-1F75D192C234}">
      <dsp:nvSpPr>
        <dsp:cNvPr id="0" name=""/>
        <dsp:cNvSpPr/>
      </dsp:nvSpPr>
      <dsp:spPr>
        <a:xfrm>
          <a:off x="322456" y="895598"/>
          <a:ext cx="4147981" cy="4147981"/>
        </a:xfrm>
        <a:prstGeom prst="pie">
          <a:avLst>
            <a:gd name="adj1" fmla="val 7560000"/>
            <a:gd name="adj2" fmla="val 11880000"/>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0" i="0" kern="1200" dirty="0"/>
            <a:t>Strong product mix diversity with steady contribution from all categories.</a:t>
          </a:r>
          <a:endParaRPr lang="en-US" sz="1200" kern="1200" dirty="0"/>
        </a:p>
      </dsp:txBody>
      <dsp:txXfrm>
        <a:off x="519979" y="2772066"/>
        <a:ext cx="1234518" cy="1041933"/>
      </dsp:txXfrm>
    </dsp:sp>
    <dsp:sp modelId="{CF98533E-5C04-4181-9C37-EACC9F546326}">
      <dsp:nvSpPr>
        <dsp:cNvPr id="0" name=""/>
        <dsp:cNvSpPr/>
      </dsp:nvSpPr>
      <dsp:spPr>
        <a:xfrm>
          <a:off x="322456" y="895598"/>
          <a:ext cx="4147981" cy="4147981"/>
        </a:xfrm>
        <a:prstGeom prst="pie">
          <a:avLst>
            <a:gd name="adj1" fmla="val 11880000"/>
            <a:gd name="adj2" fmla="val 16200000"/>
          </a:avLst>
        </a:prstGeom>
        <a:solidFill>
          <a:schemeClr val="accent6">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0" i="0" kern="1200" dirty="0"/>
            <a:t>Profitability trends show peaks in Q2 and Q4 – linked to seasonal demand cycles.</a:t>
          </a:r>
          <a:endParaRPr lang="en-US" sz="1200" kern="1200" dirty="0"/>
        </a:p>
      </dsp:txBody>
      <dsp:txXfrm>
        <a:off x="927370" y="1527672"/>
        <a:ext cx="1407350" cy="9629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C2DAF2-C318-4942-A405-04A0BB05BF9B}">
      <dsp:nvSpPr>
        <dsp:cNvPr id="0" name=""/>
        <dsp:cNvSpPr/>
      </dsp:nvSpPr>
      <dsp:spPr>
        <a:xfrm>
          <a:off x="0" y="861460"/>
          <a:ext cx="2554635" cy="1532781"/>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California leads with $0.34M in sales, followed by New York ($0.19M) and Texas ($0.12M).</a:t>
          </a:r>
          <a:endParaRPr lang="en-US" sz="1800" kern="1200" dirty="0"/>
        </a:p>
      </dsp:txBody>
      <dsp:txXfrm>
        <a:off x="0" y="861460"/>
        <a:ext cx="2554635" cy="1532781"/>
      </dsp:txXfrm>
    </dsp:sp>
    <dsp:sp modelId="{CCAAC22E-17E4-4150-BCEC-36837DCCD289}">
      <dsp:nvSpPr>
        <dsp:cNvPr id="0" name=""/>
        <dsp:cNvSpPr/>
      </dsp:nvSpPr>
      <dsp:spPr>
        <a:xfrm>
          <a:off x="2810099" y="861460"/>
          <a:ext cx="2554635" cy="1532781"/>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a:t>Western states dominate performance, while Midwest regions show growth potential.</a:t>
          </a:r>
          <a:endParaRPr lang="en-US" sz="1800" kern="1200"/>
        </a:p>
      </dsp:txBody>
      <dsp:txXfrm>
        <a:off x="2810099" y="861460"/>
        <a:ext cx="2554635" cy="1532781"/>
      </dsp:txXfrm>
    </dsp:sp>
    <dsp:sp modelId="{DAF8499C-5DC4-4B55-85A6-3ABF9E09E925}">
      <dsp:nvSpPr>
        <dsp:cNvPr id="0" name=""/>
        <dsp:cNvSpPr/>
      </dsp:nvSpPr>
      <dsp:spPr>
        <a:xfrm>
          <a:off x="5620198" y="861460"/>
          <a:ext cx="2554635" cy="1532781"/>
        </a:xfrm>
        <a:prstGeom prst="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a:t>Sales forecast for the next 15–20 days predicts stable growth between $8K–$10K daily.</a:t>
          </a:r>
          <a:endParaRPr lang="en-US" sz="1800" kern="1200"/>
        </a:p>
      </dsp:txBody>
      <dsp:txXfrm>
        <a:off x="5620198" y="861460"/>
        <a:ext cx="2554635" cy="1532781"/>
      </dsp:txXfrm>
    </dsp:sp>
    <dsp:sp modelId="{23A96816-2F1F-4659-A237-DA9765D5BD4D}">
      <dsp:nvSpPr>
        <dsp:cNvPr id="0" name=""/>
        <dsp:cNvSpPr/>
      </dsp:nvSpPr>
      <dsp:spPr>
        <a:xfrm>
          <a:off x="0" y="2649705"/>
          <a:ext cx="2554635" cy="1532781"/>
        </a:xfrm>
        <a:prstGeom prst="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Forecast highlights consistent demand, suggesting effective marketing and product alignment.</a:t>
          </a:r>
          <a:endParaRPr lang="en-US" sz="1800" kern="1200" dirty="0"/>
        </a:p>
      </dsp:txBody>
      <dsp:txXfrm>
        <a:off x="0" y="2649705"/>
        <a:ext cx="2554635" cy="1532781"/>
      </dsp:txXfrm>
    </dsp:sp>
    <dsp:sp modelId="{03E79853-64CA-47D3-8671-6C338EBC5CD2}">
      <dsp:nvSpPr>
        <dsp:cNvPr id="0" name=""/>
        <dsp:cNvSpPr/>
      </dsp:nvSpPr>
      <dsp:spPr>
        <a:xfrm>
          <a:off x="2810099" y="2649705"/>
          <a:ext cx="2554635" cy="1532781"/>
        </a:xfrm>
        <a:prstGeom prst="rect">
          <a:avLst/>
        </a:prstGeom>
        <a:solidFill>
          <a:schemeClr val="accent6">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a:t>East region shows steady sales volume, but margin optimization opportunities exist.</a:t>
          </a:r>
          <a:endParaRPr lang="en-US" sz="1800" kern="1200"/>
        </a:p>
      </dsp:txBody>
      <dsp:txXfrm>
        <a:off x="2810099" y="2649705"/>
        <a:ext cx="2554635" cy="1532781"/>
      </dsp:txXfrm>
    </dsp:sp>
    <dsp:sp modelId="{48F82C71-0184-49C0-8A64-04784FD9F5B5}">
      <dsp:nvSpPr>
        <dsp:cNvPr id="0" name=""/>
        <dsp:cNvSpPr/>
      </dsp:nvSpPr>
      <dsp:spPr>
        <a:xfrm>
          <a:off x="5620198" y="2649705"/>
          <a:ext cx="2554635" cy="1532781"/>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South region underperforming with only 16% share – improvement opportunity.</a:t>
          </a:r>
          <a:endParaRPr lang="en-US" sz="1800" kern="1200" dirty="0"/>
        </a:p>
      </dsp:txBody>
      <dsp:txXfrm>
        <a:off x="5620198" y="2649705"/>
        <a:ext cx="2554635" cy="153278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67AE16-F74D-47B9-8124-44A2FF64781C}">
      <dsp:nvSpPr>
        <dsp:cNvPr id="0" name=""/>
        <dsp:cNvSpPr/>
      </dsp:nvSpPr>
      <dsp:spPr>
        <a:xfrm>
          <a:off x="47140" y="233602"/>
          <a:ext cx="976550" cy="97655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B19C04-D2A7-4B26-9DEF-88226024313D}">
      <dsp:nvSpPr>
        <dsp:cNvPr id="0" name=""/>
        <dsp:cNvSpPr/>
      </dsp:nvSpPr>
      <dsp:spPr>
        <a:xfrm>
          <a:off x="252215" y="438677"/>
          <a:ext cx="566399" cy="5663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4602457-850C-4A97-B99D-03181F49C0F7}">
      <dsp:nvSpPr>
        <dsp:cNvPr id="0" name=""/>
        <dsp:cNvSpPr/>
      </dsp:nvSpPr>
      <dsp:spPr>
        <a:xfrm>
          <a:off x="1232951" y="233602"/>
          <a:ext cx="2301869" cy="976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a:t>Focus marketing and discount campaigns in South and Central regions to balance sales distribution.</a:t>
          </a:r>
          <a:endParaRPr lang="en-US" sz="1200" kern="1200"/>
        </a:p>
      </dsp:txBody>
      <dsp:txXfrm>
        <a:off x="1232951" y="233602"/>
        <a:ext cx="2301869" cy="976550"/>
      </dsp:txXfrm>
    </dsp:sp>
    <dsp:sp modelId="{428D56B1-3FB0-4459-AD42-5AC85581FAC2}">
      <dsp:nvSpPr>
        <dsp:cNvPr id="0" name=""/>
        <dsp:cNvSpPr/>
      </dsp:nvSpPr>
      <dsp:spPr>
        <a:xfrm>
          <a:off x="3935905" y="233602"/>
          <a:ext cx="976550" cy="97655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A3E03C-2CAE-4104-8D8C-DB515430DD19}">
      <dsp:nvSpPr>
        <dsp:cNvPr id="0" name=""/>
        <dsp:cNvSpPr/>
      </dsp:nvSpPr>
      <dsp:spPr>
        <a:xfrm>
          <a:off x="4140980" y="438677"/>
          <a:ext cx="566399" cy="5663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2F4277B-51BB-4D6E-9BA8-1CA617173FB3}">
      <dsp:nvSpPr>
        <dsp:cNvPr id="0" name=""/>
        <dsp:cNvSpPr/>
      </dsp:nvSpPr>
      <dsp:spPr>
        <a:xfrm>
          <a:off x="5121716" y="233602"/>
          <a:ext cx="2301869" cy="976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a:t>Promote high-demand subcategories (Phones, Chairs, Binders) through bundled offers and online campaigns.</a:t>
          </a:r>
          <a:endParaRPr lang="en-US" sz="1200" kern="1200"/>
        </a:p>
      </dsp:txBody>
      <dsp:txXfrm>
        <a:off x="5121716" y="233602"/>
        <a:ext cx="2301869" cy="976550"/>
      </dsp:txXfrm>
    </dsp:sp>
    <dsp:sp modelId="{184C31A0-F390-4666-8633-712FA8401B84}">
      <dsp:nvSpPr>
        <dsp:cNvPr id="0" name=""/>
        <dsp:cNvSpPr/>
      </dsp:nvSpPr>
      <dsp:spPr>
        <a:xfrm>
          <a:off x="47140" y="2085101"/>
          <a:ext cx="976550" cy="97655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4F6E19-AF4B-41FB-8329-DEC31B0A5541}">
      <dsp:nvSpPr>
        <dsp:cNvPr id="0" name=""/>
        <dsp:cNvSpPr/>
      </dsp:nvSpPr>
      <dsp:spPr>
        <a:xfrm>
          <a:off x="252215" y="2290176"/>
          <a:ext cx="566399" cy="5663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16EF555-EF39-4A0F-82DC-8E2C42916F50}">
      <dsp:nvSpPr>
        <dsp:cNvPr id="0" name=""/>
        <dsp:cNvSpPr/>
      </dsp:nvSpPr>
      <dsp:spPr>
        <a:xfrm>
          <a:off x="1232951" y="2085101"/>
          <a:ext cx="2301869" cy="976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a:t>Introduce loyalty programs for Consumer and Corporate segments to improve retention.</a:t>
          </a:r>
          <a:endParaRPr lang="en-US" sz="1200" kern="1200"/>
        </a:p>
      </dsp:txBody>
      <dsp:txXfrm>
        <a:off x="1232951" y="2085101"/>
        <a:ext cx="2301869" cy="976550"/>
      </dsp:txXfrm>
    </dsp:sp>
    <dsp:sp modelId="{1B79C842-7ABD-4047-B605-4A51811F03E6}">
      <dsp:nvSpPr>
        <dsp:cNvPr id="0" name=""/>
        <dsp:cNvSpPr/>
      </dsp:nvSpPr>
      <dsp:spPr>
        <a:xfrm>
          <a:off x="3935905" y="2085101"/>
          <a:ext cx="976550" cy="97655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D7C3E6-E52F-4398-A234-7AA52A6478E1}">
      <dsp:nvSpPr>
        <dsp:cNvPr id="0" name=""/>
        <dsp:cNvSpPr/>
      </dsp:nvSpPr>
      <dsp:spPr>
        <a:xfrm>
          <a:off x="4140980" y="2290176"/>
          <a:ext cx="566399" cy="56639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1915AB2-420A-4A4C-B737-C89BF061804C}">
      <dsp:nvSpPr>
        <dsp:cNvPr id="0" name=""/>
        <dsp:cNvSpPr/>
      </dsp:nvSpPr>
      <dsp:spPr>
        <a:xfrm>
          <a:off x="5121716" y="2085101"/>
          <a:ext cx="2301869" cy="976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a:t>Optimize sales calendar around Q2 and Q4 peak demand seasons.</a:t>
          </a:r>
          <a:endParaRPr lang="en-US" sz="1200" kern="1200"/>
        </a:p>
      </dsp:txBody>
      <dsp:txXfrm>
        <a:off x="5121716" y="2085101"/>
        <a:ext cx="2301869" cy="976550"/>
      </dsp:txXfrm>
    </dsp:sp>
    <dsp:sp modelId="{C0D8FC62-BF3F-402A-AEA0-7815EBE70764}">
      <dsp:nvSpPr>
        <dsp:cNvPr id="0" name=""/>
        <dsp:cNvSpPr/>
      </dsp:nvSpPr>
      <dsp:spPr>
        <a:xfrm>
          <a:off x="47140" y="3936599"/>
          <a:ext cx="976550" cy="97655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68120D-1ADF-48A6-97D1-28FAC9FA90FA}">
      <dsp:nvSpPr>
        <dsp:cNvPr id="0" name=""/>
        <dsp:cNvSpPr/>
      </dsp:nvSpPr>
      <dsp:spPr>
        <a:xfrm>
          <a:off x="252215" y="4141675"/>
          <a:ext cx="566399" cy="56639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C53D7E-DE3C-4031-8946-1F46B5897901}">
      <dsp:nvSpPr>
        <dsp:cNvPr id="0" name=""/>
        <dsp:cNvSpPr/>
      </dsp:nvSpPr>
      <dsp:spPr>
        <a:xfrm>
          <a:off x="1232951" y="3936599"/>
          <a:ext cx="2301869" cy="976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a:t>Encourage online payment adoption by providing additional rewards or discounts for digital transactions.</a:t>
          </a:r>
          <a:endParaRPr lang="en-US" sz="1200" kern="1200"/>
        </a:p>
      </dsp:txBody>
      <dsp:txXfrm>
        <a:off x="1232951" y="3936599"/>
        <a:ext cx="2301869" cy="976550"/>
      </dsp:txXfrm>
    </dsp:sp>
    <dsp:sp modelId="{CF26E619-9505-41CE-B39C-61C7032A276A}">
      <dsp:nvSpPr>
        <dsp:cNvPr id="0" name=""/>
        <dsp:cNvSpPr/>
      </dsp:nvSpPr>
      <dsp:spPr>
        <a:xfrm>
          <a:off x="3935905" y="3936599"/>
          <a:ext cx="976550" cy="97655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937201-0332-4FC4-9E6A-D9CEE3C6DA5C}">
      <dsp:nvSpPr>
        <dsp:cNvPr id="0" name=""/>
        <dsp:cNvSpPr/>
      </dsp:nvSpPr>
      <dsp:spPr>
        <a:xfrm>
          <a:off x="4140980" y="4141675"/>
          <a:ext cx="566399" cy="56639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D53B99-09D3-4643-AC37-45C4FCE85CCB}">
      <dsp:nvSpPr>
        <dsp:cNvPr id="0" name=""/>
        <dsp:cNvSpPr/>
      </dsp:nvSpPr>
      <dsp:spPr>
        <a:xfrm>
          <a:off x="5121716" y="3936599"/>
          <a:ext cx="2301869" cy="976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a:t>Partner with logistics for faster delivery and same-day options in metro regions.</a:t>
          </a:r>
          <a:endParaRPr lang="en-US" sz="1200" kern="1200"/>
        </a:p>
      </dsp:txBody>
      <dsp:txXfrm>
        <a:off x="5121716" y="3936599"/>
        <a:ext cx="2301869" cy="97655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F66617-23D6-46FA-AF97-91E1595CAF8F}">
      <dsp:nvSpPr>
        <dsp:cNvPr id="0" name=""/>
        <dsp:cNvSpPr/>
      </dsp:nvSpPr>
      <dsp:spPr>
        <a:xfrm>
          <a:off x="2400695" y="1095862"/>
          <a:ext cx="520509" cy="91440"/>
        </a:xfrm>
        <a:custGeom>
          <a:avLst/>
          <a:gdLst/>
          <a:ahLst/>
          <a:cxnLst/>
          <a:rect l="0" t="0" r="0" b="0"/>
          <a:pathLst>
            <a:path>
              <a:moveTo>
                <a:pt x="0" y="45720"/>
              </a:moveTo>
              <a:lnTo>
                <a:pt x="520509" y="45720"/>
              </a:lnTo>
            </a:path>
          </a:pathLst>
        </a:custGeom>
        <a:noFill/>
        <a:ln w="9525" cap="rnd"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47173" y="1138827"/>
        <a:ext cx="27555" cy="5511"/>
      </dsp:txXfrm>
    </dsp:sp>
    <dsp:sp modelId="{F9574C3A-A18D-4FC8-BC54-B1AFB7FD6969}">
      <dsp:nvSpPr>
        <dsp:cNvPr id="0" name=""/>
        <dsp:cNvSpPr/>
      </dsp:nvSpPr>
      <dsp:spPr>
        <a:xfrm>
          <a:off x="6365" y="422743"/>
          <a:ext cx="2396130" cy="1437678"/>
        </a:xfrm>
        <a:prstGeom prst="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7412" tIns="123245" rIns="117412" bIns="123245" numCol="1" spcCol="1270" anchor="ctr" anchorCtr="0">
          <a:noAutofit/>
        </a:bodyPr>
        <a:lstStyle/>
        <a:p>
          <a:pPr marL="0" lvl="0" indent="0" algn="ctr" defTabSz="666750">
            <a:lnSpc>
              <a:spcPct val="90000"/>
            </a:lnSpc>
            <a:spcBef>
              <a:spcPct val="0"/>
            </a:spcBef>
            <a:spcAft>
              <a:spcPct val="35000"/>
            </a:spcAft>
            <a:buNone/>
          </a:pPr>
          <a:r>
            <a:rPr lang="en-US" sz="1500" b="0" i="0" kern="1200"/>
            <a:t>Introduce region-specific product assortments based on sales and customer demographics.</a:t>
          </a:r>
          <a:endParaRPr lang="en-US" sz="1500" kern="1200"/>
        </a:p>
      </dsp:txBody>
      <dsp:txXfrm>
        <a:off x="6365" y="422743"/>
        <a:ext cx="2396130" cy="1437678"/>
      </dsp:txXfrm>
    </dsp:sp>
    <dsp:sp modelId="{C339867A-9FF3-4D2A-B839-0072AA9313FD}">
      <dsp:nvSpPr>
        <dsp:cNvPr id="0" name=""/>
        <dsp:cNvSpPr/>
      </dsp:nvSpPr>
      <dsp:spPr>
        <a:xfrm>
          <a:off x="5347936" y="1095862"/>
          <a:ext cx="520509" cy="91440"/>
        </a:xfrm>
        <a:custGeom>
          <a:avLst/>
          <a:gdLst/>
          <a:ahLst/>
          <a:cxnLst/>
          <a:rect l="0" t="0" r="0" b="0"/>
          <a:pathLst>
            <a:path>
              <a:moveTo>
                <a:pt x="0" y="45720"/>
              </a:moveTo>
              <a:lnTo>
                <a:pt x="520509" y="45720"/>
              </a:lnTo>
            </a:path>
          </a:pathLst>
        </a:custGeom>
        <a:noFill/>
        <a:ln w="9525" cap="rnd" cmpd="sng" algn="ctr">
          <a:solidFill>
            <a:schemeClr val="accent5">
              <a:hueOff val="1827658"/>
              <a:satOff val="199"/>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594413" y="1138827"/>
        <a:ext cx="27555" cy="5511"/>
      </dsp:txXfrm>
    </dsp:sp>
    <dsp:sp modelId="{185C7C60-284D-428C-8C84-93E899ACA38C}">
      <dsp:nvSpPr>
        <dsp:cNvPr id="0" name=""/>
        <dsp:cNvSpPr/>
      </dsp:nvSpPr>
      <dsp:spPr>
        <a:xfrm>
          <a:off x="2953605" y="422743"/>
          <a:ext cx="2396130" cy="1437678"/>
        </a:xfrm>
        <a:prstGeom prst="rect">
          <a:avLst/>
        </a:prstGeom>
        <a:solidFill>
          <a:schemeClr val="accent5">
            <a:hueOff val="1462126"/>
            <a:satOff val="159"/>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7412" tIns="123245" rIns="117412" bIns="123245" numCol="1" spcCol="1270" anchor="ctr" anchorCtr="0">
          <a:noAutofit/>
        </a:bodyPr>
        <a:lstStyle/>
        <a:p>
          <a:pPr marL="0" lvl="0" indent="0" algn="ctr" defTabSz="666750">
            <a:lnSpc>
              <a:spcPct val="90000"/>
            </a:lnSpc>
            <a:spcBef>
              <a:spcPct val="0"/>
            </a:spcBef>
            <a:spcAft>
              <a:spcPct val="35000"/>
            </a:spcAft>
            <a:buNone/>
          </a:pPr>
          <a:r>
            <a:rPr lang="en-US" sz="1500" b="0" i="0" kern="1200"/>
            <a:t>Invest in technology integration for dynamic pricing and demand-based discounts.</a:t>
          </a:r>
          <a:endParaRPr lang="en-US" sz="1500" kern="1200"/>
        </a:p>
      </dsp:txBody>
      <dsp:txXfrm>
        <a:off x="2953605" y="422743"/>
        <a:ext cx="2396130" cy="1437678"/>
      </dsp:txXfrm>
    </dsp:sp>
    <dsp:sp modelId="{999B844A-68B0-4B26-9FC1-2470BEE48591}">
      <dsp:nvSpPr>
        <dsp:cNvPr id="0" name=""/>
        <dsp:cNvSpPr/>
      </dsp:nvSpPr>
      <dsp:spPr>
        <a:xfrm>
          <a:off x="1204430" y="1858622"/>
          <a:ext cx="5894480" cy="520509"/>
        </a:xfrm>
        <a:custGeom>
          <a:avLst/>
          <a:gdLst/>
          <a:ahLst/>
          <a:cxnLst/>
          <a:rect l="0" t="0" r="0" b="0"/>
          <a:pathLst>
            <a:path>
              <a:moveTo>
                <a:pt x="5894480" y="0"/>
              </a:moveTo>
              <a:lnTo>
                <a:pt x="5894480" y="277354"/>
              </a:lnTo>
              <a:lnTo>
                <a:pt x="0" y="277354"/>
              </a:lnTo>
              <a:lnTo>
                <a:pt x="0" y="520509"/>
              </a:lnTo>
            </a:path>
          </a:pathLst>
        </a:custGeom>
        <a:noFill/>
        <a:ln w="9525" cap="rnd" cmpd="sng" algn="ctr">
          <a:solidFill>
            <a:schemeClr val="accent5">
              <a:hueOff val="3655316"/>
              <a:satOff val="397"/>
              <a:lumOff val="-1"/>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03666" y="2116121"/>
        <a:ext cx="296009" cy="5511"/>
      </dsp:txXfrm>
    </dsp:sp>
    <dsp:sp modelId="{8439593C-2A26-476F-BF9C-B3BD95D21CDE}">
      <dsp:nvSpPr>
        <dsp:cNvPr id="0" name=""/>
        <dsp:cNvSpPr/>
      </dsp:nvSpPr>
      <dsp:spPr>
        <a:xfrm>
          <a:off x="5900846" y="422743"/>
          <a:ext cx="2396130" cy="1437678"/>
        </a:xfrm>
        <a:prstGeom prst="rect">
          <a:avLst/>
        </a:prstGeom>
        <a:solidFill>
          <a:schemeClr val="accent5">
            <a:hueOff val="2924253"/>
            <a:satOff val="318"/>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7412" tIns="123245" rIns="117412" bIns="123245" numCol="1" spcCol="1270" anchor="ctr" anchorCtr="0">
          <a:noAutofit/>
        </a:bodyPr>
        <a:lstStyle/>
        <a:p>
          <a:pPr marL="0" lvl="0" indent="0" algn="ctr" defTabSz="666750">
            <a:lnSpc>
              <a:spcPct val="90000"/>
            </a:lnSpc>
            <a:spcBef>
              <a:spcPct val="0"/>
            </a:spcBef>
            <a:spcAft>
              <a:spcPct val="35000"/>
            </a:spcAft>
            <a:buNone/>
          </a:pPr>
          <a:r>
            <a:rPr lang="en-US" sz="1500" b="0" i="0" kern="1200"/>
            <a:t>Enhance supplier partnerships to reduce stockouts in high-demand categories.</a:t>
          </a:r>
          <a:endParaRPr lang="en-US" sz="1500" kern="1200"/>
        </a:p>
      </dsp:txBody>
      <dsp:txXfrm>
        <a:off x="5900846" y="422743"/>
        <a:ext cx="2396130" cy="1437678"/>
      </dsp:txXfrm>
    </dsp:sp>
    <dsp:sp modelId="{7DEB76EF-72AA-40B6-9215-C2F3711FDE7A}">
      <dsp:nvSpPr>
        <dsp:cNvPr id="0" name=""/>
        <dsp:cNvSpPr/>
      </dsp:nvSpPr>
      <dsp:spPr>
        <a:xfrm>
          <a:off x="2400695" y="3084651"/>
          <a:ext cx="520509" cy="91440"/>
        </a:xfrm>
        <a:custGeom>
          <a:avLst/>
          <a:gdLst/>
          <a:ahLst/>
          <a:cxnLst/>
          <a:rect l="0" t="0" r="0" b="0"/>
          <a:pathLst>
            <a:path>
              <a:moveTo>
                <a:pt x="0" y="45720"/>
              </a:moveTo>
              <a:lnTo>
                <a:pt x="520509" y="45720"/>
              </a:lnTo>
            </a:path>
          </a:pathLst>
        </a:custGeom>
        <a:noFill/>
        <a:ln w="9525" cap="rnd" cmpd="sng" algn="ctr">
          <a:solidFill>
            <a:schemeClr val="accent5">
              <a:hueOff val="5482974"/>
              <a:satOff val="596"/>
              <a:lumOff val="-1"/>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47173" y="3127615"/>
        <a:ext cx="27555" cy="5511"/>
      </dsp:txXfrm>
    </dsp:sp>
    <dsp:sp modelId="{F67B6BC1-1456-468B-8DF7-A9C251EC40E7}">
      <dsp:nvSpPr>
        <dsp:cNvPr id="0" name=""/>
        <dsp:cNvSpPr/>
      </dsp:nvSpPr>
      <dsp:spPr>
        <a:xfrm>
          <a:off x="6365" y="2411531"/>
          <a:ext cx="2396130" cy="1437678"/>
        </a:xfrm>
        <a:prstGeom prst="rect">
          <a:avLst/>
        </a:prstGeom>
        <a:solidFill>
          <a:schemeClr val="accent5">
            <a:hueOff val="4386379"/>
            <a:satOff val="477"/>
            <a:lumOff val="-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7412" tIns="123245" rIns="117412" bIns="123245" numCol="1" spcCol="1270" anchor="ctr" anchorCtr="0">
          <a:noAutofit/>
        </a:bodyPr>
        <a:lstStyle/>
        <a:p>
          <a:pPr marL="0" lvl="0" indent="0" algn="ctr" defTabSz="666750">
            <a:lnSpc>
              <a:spcPct val="90000"/>
            </a:lnSpc>
            <a:spcBef>
              <a:spcPct val="0"/>
            </a:spcBef>
            <a:spcAft>
              <a:spcPct val="35000"/>
            </a:spcAft>
            <a:buNone/>
          </a:pPr>
          <a:r>
            <a:rPr lang="en-US" sz="1500" b="0" i="0" kern="1200"/>
            <a:t>Launch sustainability initiatives – eco-packaging and green logistics to attract eco-conscious buyers.</a:t>
          </a:r>
          <a:endParaRPr lang="en-US" sz="1500" kern="1200"/>
        </a:p>
      </dsp:txBody>
      <dsp:txXfrm>
        <a:off x="6365" y="2411531"/>
        <a:ext cx="2396130" cy="1437678"/>
      </dsp:txXfrm>
    </dsp:sp>
    <dsp:sp modelId="{F489EC3E-94A9-4680-88A0-0B905890DAF2}">
      <dsp:nvSpPr>
        <dsp:cNvPr id="0" name=""/>
        <dsp:cNvSpPr/>
      </dsp:nvSpPr>
      <dsp:spPr>
        <a:xfrm>
          <a:off x="5347936" y="3084651"/>
          <a:ext cx="520509" cy="91440"/>
        </a:xfrm>
        <a:custGeom>
          <a:avLst/>
          <a:gdLst/>
          <a:ahLst/>
          <a:cxnLst/>
          <a:rect l="0" t="0" r="0" b="0"/>
          <a:pathLst>
            <a:path>
              <a:moveTo>
                <a:pt x="0" y="45720"/>
              </a:moveTo>
              <a:lnTo>
                <a:pt x="520509" y="45720"/>
              </a:lnTo>
            </a:path>
          </a:pathLst>
        </a:custGeom>
        <a:noFill/>
        <a:ln w="9525" cap="rnd" cmpd="sng" algn="ctr">
          <a:solidFill>
            <a:schemeClr val="accent5">
              <a:hueOff val="7310632"/>
              <a:satOff val="795"/>
              <a:lumOff val="-1"/>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594413" y="3127615"/>
        <a:ext cx="27555" cy="5511"/>
      </dsp:txXfrm>
    </dsp:sp>
    <dsp:sp modelId="{E8BAEDB0-98EF-4156-A4AD-C68B5AD1D2C2}">
      <dsp:nvSpPr>
        <dsp:cNvPr id="0" name=""/>
        <dsp:cNvSpPr/>
      </dsp:nvSpPr>
      <dsp:spPr>
        <a:xfrm>
          <a:off x="2953605" y="2411531"/>
          <a:ext cx="2396130" cy="1437678"/>
        </a:xfrm>
        <a:prstGeom prst="rect">
          <a:avLst/>
        </a:prstGeom>
        <a:solidFill>
          <a:schemeClr val="accent5">
            <a:hueOff val="5848506"/>
            <a:satOff val="636"/>
            <a:lumOff val="-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7412" tIns="123245" rIns="117412" bIns="123245" numCol="1" spcCol="1270" anchor="ctr" anchorCtr="0">
          <a:noAutofit/>
        </a:bodyPr>
        <a:lstStyle/>
        <a:p>
          <a:pPr marL="0" lvl="0" indent="0" algn="ctr" defTabSz="666750">
            <a:lnSpc>
              <a:spcPct val="90000"/>
            </a:lnSpc>
            <a:spcBef>
              <a:spcPct val="0"/>
            </a:spcBef>
            <a:spcAft>
              <a:spcPct val="35000"/>
            </a:spcAft>
            <a:buNone/>
          </a:pPr>
          <a:r>
            <a:rPr lang="en-US" sz="1500" b="0" i="0" kern="1200"/>
            <a:t>Expand into unexplored geographic markets with digital-first campaigns.</a:t>
          </a:r>
          <a:endParaRPr lang="en-US" sz="1500" kern="1200"/>
        </a:p>
      </dsp:txBody>
      <dsp:txXfrm>
        <a:off x="2953605" y="2411531"/>
        <a:ext cx="2396130" cy="1437678"/>
      </dsp:txXfrm>
    </dsp:sp>
    <dsp:sp modelId="{6051B9D1-6EAB-4286-8BCB-0D8045B4405A}">
      <dsp:nvSpPr>
        <dsp:cNvPr id="0" name=""/>
        <dsp:cNvSpPr/>
      </dsp:nvSpPr>
      <dsp:spPr>
        <a:xfrm>
          <a:off x="5900846" y="2411531"/>
          <a:ext cx="2396130" cy="1437678"/>
        </a:xfrm>
        <a:prstGeom prst="rect">
          <a:avLst/>
        </a:prstGeom>
        <a:solidFill>
          <a:schemeClr val="accent5">
            <a:hueOff val="7310632"/>
            <a:satOff val="795"/>
            <a:lumOff val="-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7412" tIns="123245" rIns="117412" bIns="123245" numCol="1" spcCol="1270" anchor="ctr" anchorCtr="0">
          <a:noAutofit/>
        </a:bodyPr>
        <a:lstStyle/>
        <a:p>
          <a:pPr marL="0" lvl="0" indent="0" algn="ctr" defTabSz="666750">
            <a:lnSpc>
              <a:spcPct val="90000"/>
            </a:lnSpc>
            <a:spcBef>
              <a:spcPct val="0"/>
            </a:spcBef>
            <a:spcAft>
              <a:spcPct val="35000"/>
            </a:spcAft>
            <a:buNone/>
          </a:pPr>
          <a:r>
            <a:rPr lang="en-US" sz="1500" b="0" i="0" kern="1200"/>
            <a:t>Monitor forecast accuracy regularly to align production, marketing, and logistics efforts.</a:t>
          </a:r>
          <a:endParaRPr lang="en-US" sz="1500" kern="1200"/>
        </a:p>
      </dsp:txBody>
      <dsp:txXfrm>
        <a:off x="5900846" y="2411531"/>
        <a:ext cx="2396130" cy="1437678"/>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96841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55127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62339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5377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0575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10/28/2025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59776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10/28/2025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4407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10/28/2025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59155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5773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60320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64343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16607651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65404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10/28/2025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840189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10/28/2025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002006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365563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1874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10/28/2025</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735726701"/>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sv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5" name="Picture 4" descr="Boxes On Rack In Warehouse">
            <a:extLst>
              <a:ext uri="{FF2B5EF4-FFF2-40B4-BE49-F238E27FC236}">
                <a16:creationId xmlns:a16="http://schemas.microsoft.com/office/drawing/2014/main" id="{2A9F1FA0-B2CA-24B0-03AE-1ED8A7A99D8E}"/>
              </a:ext>
            </a:extLst>
          </p:cNvPr>
          <p:cNvPicPr>
            <a:picLocks noChangeAspect="1"/>
          </p:cNvPicPr>
          <p:nvPr/>
        </p:nvPicPr>
        <p:blipFill>
          <a:blip r:embed="rId3">
            <a:duotone>
              <a:prstClr val="black"/>
              <a:schemeClr val="accent5">
                <a:tint val="45000"/>
                <a:satMod val="400000"/>
              </a:schemeClr>
            </a:duotone>
            <a:alphaModFix amt="25000"/>
          </a:blip>
          <a:srcRect r="10999" b="-1"/>
          <a:stretch>
            <a:fillRect/>
          </a:stretch>
        </p:blipFill>
        <p:spPr>
          <a:xfrm>
            <a:off x="20" y="10"/>
            <a:ext cx="9143980" cy="6857990"/>
          </a:xfrm>
          <a:prstGeom prst="rect">
            <a:avLst/>
          </a:prstGeom>
        </p:spPr>
      </p:pic>
      <p:sp>
        <p:nvSpPr>
          <p:cNvPr id="2" name="Title 1"/>
          <p:cNvSpPr>
            <a:spLocks noGrp="1"/>
          </p:cNvSpPr>
          <p:nvPr>
            <p:ph type="ctrTitle"/>
          </p:nvPr>
        </p:nvSpPr>
        <p:spPr>
          <a:xfrm>
            <a:off x="866216" y="1447800"/>
            <a:ext cx="6619243" cy="3329581"/>
          </a:xfrm>
        </p:spPr>
        <p:txBody>
          <a:bodyPr>
            <a:normAutofit/>
          </a:bodyPr>
          <a:lstStyle/>
          <a:p>
            <a:pPr>
              <a:lnSpc>
                <a:spcPct val="90000"/>
              </a:lnSpc>
            </a:pPr>
            <a:r>
              <a:rPr lang="en-US" sz="5000"/>
              <a:t>Superstore Sales Analysis – Insights &amp; Recommendations</a:t>
            </a:r>
          </a:p>
        </p:txBody>
      </p:sp>
      <p:sp>
        <p:nvSpPr>
          <p:cNvPr id="3" name="Subtitle 2"/>
          <p:cNvSpPr>
            <a:spLocks noGrp="1"/>
          </p:cNvSpPr>
          <p:nvPr>
            <p:ph type="subTitle" idx="1"/>
          </p:nvPr>
        </p:nvSpPr>
        <p:spPr>
          <a:xfrm>
            <a:off x="866216" y="4777380"/>
            <a:ext cx="6619243" cy="861420"/>
          </a:xfrm>
        </p:spPr>
        <p:txBody>
          <a:bodyPr>
            <a:normAutofit/>
          </a:bodyPr>
          <a:lstStyle/>
          <a:p>
            <a:r>
              <a:t>Prepared by Ashish Kumar</a:t>
            </a:r>
          </a:p>
          <a:p>
            <a:r>
              <a:t>October 2025</a:t>
            </a:r>
          </a:p>
        </p:txBody>
      </p:sp>
      <p:sp>
        <p:nvSpPr>
          <p:cNvPr id="9" name="Rectangle 8">
            <a:extLst>
              <a:ext uri="{FF2B5EF4-FFF2-40B4-BE49-F238E27FC236}">
                <a16:creationId xmlns:a16="http://schemas.microsoft.com/office/drawing/2014/main" id="{C885E190-58DD-42DD-A4A8-401E15C92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4583" y="452718"/>
            <a:ext cx="7053542" cy="1400530"/>
          </a:xfrm>
        </p:spPr>
        <p:txBody>
          <a:bodyPr>
            <a:normAutofit/>
          </a:bodyPr>
          <a:lstStyle/>
          <a:p>
            <a:pPr>
              <a:defRPr sz="1800">
                <a:latin typeface="Calibri"/>
              </a:defRPr>
            </a:pPr>
            <a:r>
              <a:rPr lang="en-IN" sz="2000" dirty="0"/>
              <a:t>Key Insights – Overall Performance</a:t>
            </a:r>
          </a:p>
        </p:txBody>
      </p:sp>
      <p:graphicFrame>
        <p:nvGraphicFramePr>
          <p:cNvPr id="7" name="Content Placeholder 2">
            <a:extLst>
              <a:ext uri="{FF2B5EF4-FFF2-40B4-BE49-F238E27FC236}">
                <a16:creationId xmlns:a16="http://schemas.microsoft.com/office/drawing/2014/main" id="{B40903D4-E449-F1FB-677B-E83835CD4232}"/>
              </a:ext>
            </a:extLst>
          </p:cNvPr>
          <p:cNvGraphicFramePr>
            <a:graphicFrameLocks noGrp="1"/>
          </p:cNvGraphicFramePr>
          <p:nvPr>
            <p:ph idx="1"/>
            <p:extLst>
              <p:ext uri="{D42A27DB-BD31-4B8C-83A1-F6EECF244321}">
                <p14:modId xmlns:p14="http://schemas.microsoft.com/office/powerpoint/2010/main" val="2470649733"/>
              </p:ext>
            </p:extLst>
          </p:nvPr>
        </p:nvGraphicFramePr>
        <p:xfrm>
          <a:off x="484583" y="1160206"/>
          <a:ext cx="8079314" cy="51238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696" y="1063417"/>
            <a:ext cx="2629122" cy="4675396"/>
          </a:xfrm>
        </p:spPr>
        <p:txBody>
          <a:bodyPr anchor="ctr">
            <a:normAutofit/>
          </a:bodyPr>
          <a:lstStyle/>
          <a:p>
            <a:pPr>
              <a:defRPr sz="1800">
                <a:latin typeface="Calibri"/>
              </a:defRPr>
            </a:pPr>
            <a:r>
              <a:rPr lang="en-IN" sz="2000" dirty="0">
                <a:solidFill>
                  <a:srgbClr val="F2F2F2"/>
                </a:solidFill>
              </a:rPr>
              <a:t>Key Insights – Product &amp; Category</a:t>
            </a:r>
          </a:p>
        </p:txBody>
      </p:sp>
      <p:sp>
        <p:nvSpPr>
          <p:cNvPr id="11" name="Rectangle 10">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9292" y="0"/>
            <a:ext cx="566470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2766" y="484632"/>
            <a:ext cx="4938073"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graphicFrame>
        <p:nvGraphicFramePr>
          <p:cNvPr id="5" name="Content Placeholder 2">
            <a:extLst>
              <a:ext uri="{FF2B5EF4-FFF2-40B4-BE49-F238E27FC236}">
                <a16:creationId xmlns:a16="http://schemas.microsoft.com/office/drawing/2014/main" id="{CEC55DD8-C7FE-F7DE-D6DE-5A74DE8905A7}"/>
              </a:ext>
            </a:extLst>
          </p:cNvPr>
          <p:cNvGraphicFramePr>
            <a:graphicFrameLocks noGrp="1"/>
          </p:cNvGraphicFramePr>
          <p:nvPr>
            <p:ph idx="1"/>
            <p:extLst>
              <p:ext uri="{D42A27DB-BD31-4B8C-83A1-F6EECF244321}">
                <p14:modId xmlns:p14="http://schemas.microsoft.com/office/powerpoint/2010/main" val="3590855831"/>
              </p:ext>
            </p:extLst>
          </p:nvPr>
        </p:nvGraphicFramePr>
        <p:xfrm>
          <a:off x="3842765" y="484632"/>
          <a:ext cx="4938073" cy="57391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4583" y="452718"/>
            <a:ext cx="7053542" cy="1400530"/>
          </a:xfrm>
        </p:spPr>
        <p:txBody>
          <a:bodyPr>
            <a:normAutofit/>
          </a:bodyPr>
          <a:lstStyle/>
          <a:p>
            <a:pPr>
              <a:defRPr sz="1800">
                <a:latin typeface="Calibri"/>
              </a:defRPr>
            </a:pPr>
            <a:r>
              <a:rPr lang="en-US" sz="2000" dirty="0"/>
              <a:t>Key Insights – Regional &amp; Forecast Analysis</a:t>
            </a:r>
          </a:p>
        </p:txBody>
      </p:sp>
      <p:graphicFrame>
        <p:nvGraphicFramePr>
          <p:cNvPr id="5" name="Content Placeholder 2">
            <a:extLst>
              <a:ext uri="{FF2B5EF4-FFF2-40B4-BE49-F238E27FC236}">
                <a16:creationId xmlns:a16="http://schemas.microsoft.com/office/drawing/2014/main" id="{48313E3E-95BA-F150-F730-149326AAE542}"/>
              </a:ext>
            </a:extLst>
          </p:cNvPr>
          <p:cNvGraphicFramePr>
            <a:graphicFrameLocks noGrp="1"/>
          </p:cNvGraphicFramePr>
          <p:nvPr>
            <p:ph idx="1"/>
            <p:extLst>
              <p:ext uri="{D42A27DB-BD31-4B8C-83A1-F6EECF244321}">
                <p14:modId xmlns:p14="http://schemas.microsoft.com/office/powerpoint/2010/main" val="3914691427"/>
              </p:ext>
            </p:extLst>
          </p:nvPr>
        </p:nvGraphicFramePr>
        <p:xfrm>
          <a:off x="484583" y="1445342"/>
          <a:ext cx="8174834" cy="50439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1800">
                <a:latin typeface="Calibri"/>
              </a:defRPr>
            </a:pPr>
            <a:r>
              <a:rPr lang="en-IN" sz="2000" dirty="0"/>
              <a:t>Recommendations – Sales &amp; Growth Strategy</a:t>
            </a:r>
          </a:p>
        </p:txBody>
      </p:sp>
      <p:graphicFrame>
        <p:nvGraphicFramePr>
          <p:cNvPr id="5" name="Content Placeholder 2">
            <a:extLst>
              <a:ext uri="{FF2B5EF4-FFF2-40B4-BE49-F238E27FC236}">
                <a16:creationId xmlns:a16="http://schemas.microsoft.com/office/drawing/2014/main" id="{9A00B367-B5C5-1BE1-846A-3EDEE5FC35AE}"/>
              </a:ext>
            </a:extLst>
          </p:cNvPr>
          <p:cNvGraphicFramePr>
            <a:graphicFrameLocks noGrp="1"/>
          </p:cNvGraphicFramePr>
          <p:nvPr>
            <p:ph idx="1"/>
            <p:extLst>
              <p:ext uri="{D42A27DB-BD31-4B8C-83A1-F6EECF244321}">
                <p14:modId xmlns:p14="http://schemas.microsoft.com/office/powerpoint/2010/main" val="86895594"/>
              </p:ext>
            </p:extLst>
          </p:nvPr>
        </p:nvGraphicFramePr>
        <p:xfrm>
          <a:off x="827699" y="1258529"/>
          <a:ext cx="7470727" cy="51467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697" y="629266"/>
            <a:ext cx="4641143" cy="1622321"/>
          </a:xfrm>
        </p:spPr>
        <p:txBody>
          <a:bodyPr>
            <a:normAutofit/>
          </a:bodyPr>
          <a:lstStyle/>
          <a:p>
            <a:pPr>
              <a:defRPr sz="1800">
                <a:latin typeface="Calibri"/>
              </a:defRPr>
            </a:pPr>
            <a:r>
              <a:rPr lang="en-IN" sz="2000" dirty="0">
                <a:solidFill>
                  <a:srgbClr val="EBEBEB"/>
                </a:solidFill>
              </a:rPr>
              <a:t>Recommendations – Operations &amp; Customer Engagement</a:t>
            </a:r>
          </a:p>
        </p:txBody>
      </p:sp>
      <p:sp>
        <p:nvSpPr>
          <p:cNvPr id="3" name="Content Placeholder 2"/>
          <p:cNvSpPr>
            <a:spLocks noGrp="1"/>
          </p:cNvSpPr>
          <p:nvPr>
            <p:ph idx="1"/>
          </p:nvPr>
        </p:nvSpPr>
        <p:spPr>
          <a:xfrm>
            <a:off x="127820" y="1641988"/>
            <a:ext cx="5293746" cy="4581832"/>
          </a:xfrm>
        </p:spPr>
        <p:txBody>
          <a:bodyPr>
            <a:normAutofit/>
          </a:bodyPr>
          <a:lstStyle/>
          <a:p>
            <a:pPr>
              <a:lnSpc>
                <a:spcPct val="90000"/>
              </a:lnSpc>
              <a:defRPr sz="1800">
                <a:latin typeface="Calibri"/>
              </a:defRPr>
            </a:pPr>
            <a:r>
              <a:rPr lang="en-US" sz="1600" dirty="0">
                <a:solidFill>
                  <a:srgbClr val="FFFFFF"/>
                </a:solidFill>
              </a:rPr>
              <a:t>Streamline inventory forecasting for top categories using predictive analytics.</a:t>
            </a:r>
          </a:p>
          <a:p>
            <a:pPr>
              <a:lnSpc>
                <a:spcPct val="90000"/>
              </a:lnSpc>
              <a:defRPr sz="1800">
                <a:latin typeface="Calibri"/>
              </a:defRPr>
            </a:pPr>
            <a:r>
              <a:rPr lang="en-US" sz="1600" dirty="0">
                <a:solidFill>
                  <a:srgbClr val="FFFFFF"/>
                </a:solidFill>
              </a:rPr>
              <a:t>Improve underperforming regions with region-specific marketing and price adjustments.</a:t>
            </a:r>
          </a:p>
          <a:p>
            <a:pPr>
              <a:lnSpc>
                <a:spcPct val="90000"/>
              </a:lnSpc>
              <a:defRPr sz="1800">
                <a:latin typeface="Calibri"/>
              </a:defRPr>
            </a:pPr>
            <a:r>
              <a:rPr lang="en-US" sz="1600" dirty="0">
                <a:solidFill>
                  <a:srgbClr val="FFFFFF"/>
                </a:solidFill>
              </a:rPr>
              <a:t>Enhance customer experience by reducing average delivery days from 4 to 3 via route optimization.</a:t>
            </a:r>
          </a:p>
          <a:p>
            <a:pPr>
              <a:lnSpc>
                <a:spcPct val="90000"/>
              </a:lnSpc>
              <a:defRPr sz="1800">
                <a:latin typeface="Calibri"/>
              </a:defRPr>
            </a:pPr>
            <a:r>
              <a:rPr lang="en-US" sz="1600" dirty="0">
                <a:solidFill>
                  <a:srgbClr val="FFFFFF"/>
                </a:solidFill>
              </a:rPr>
              <a:t>Leverage data from high-performing states (CA, NY, TX) to identify successful regional practices.</a:t>
            </a:r>
          </a:p>
          <a:p>
            <a:pPr>
              <a:lnSpc>
                <a:spcPct val="90000"/>
              </a:lnSpc>
              <a:defRPr sz="1800">
                <a:latin typeface="Calibri"/>
              </a:defRPr>
            </a:pPr>
            <a:r>
              <a:rPr lang="en-US" sz="1600" dirty="0">
                <a:solidFill>
                  <a:srgbClr val="FFFFFF"/>
                </a:solidFill>
              </a:rPr>
              <a:t>Strengthen after-sales engagement through email and loyalty communication.</a:t>
            </a:r>
          </a:p>
          <a:p>
            <a:pPr>
              <a:lnSpc>
                <a:spcPct val="90000"/>
              </a:lnSpc>
              <a:defRPr sz="1800">
                <a:latin typeface="Calibri"/>
              </a:defRPr>
            </a:pPr>
            <a:r>
              <a:rPr lang="en-US" sz="1600" dirty="0">
                <a:solidFill>
                  <a:srgbClr val="FFFFFF"/>
                </a:solidFill>
              </a:rPr>
              <a:t>Expand online channel visibility through targeted social media ads and product promotions.</a:t>
            </a:r>
          </a:p>
        </p:txBody>
      </p:sp>
      <p:sp>
        <p:nvSpPr>
          <p:cNvPr id="11"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61980"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Magnifying glass showing decling performance">
            <a:extLst>
              <a:ext uri="{FF2B5EF4-FFF2-40B4-BE49-F238E27FC236}">
                <a16:creationId xmlns:a16="http://schemas.microsoft.com/office/drawing/2014/main" id="{4860BCAC-30A4-E8C5-E61D-CF544F1D6FA9}"/>
              </a:ext>
            </a:extLst>
          </p:cNvPr>
          <p:cNvPicPr>
            <a:picLocks noChangeAspect="1"/>
          </p:cNvPicPr>
          <p:nvPr/>
        </p:nvPicPr>
        <p:blipFill>
          <a:blip r:embed="rId3"/>
          <a:srcRect l="16603" r="47166" b="-2"/>
          <a:stretch>
            <a:fillRect/>
          </a:stretch>
        </p:blipFill>
        <p:spPr>
          <a:xfrm>
            <a:off x="5421566" y="1"/>
            <a:ext cx="3722749"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1"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460230"/>
            <a:ext cx="2604045"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p:cNvSpPr>
            <a:spLocks noGrp="1"/>
          </p:cNvSpPr>
          <p:nvPr>
            <p:ph type="title"/>
          </p:nvPr>
        </p:nvSpPr>
        <p:spPr>
          <a:xfrm>
            <a:off x="486697" y="629267"/>
            <a:ext cx="6939116" cy="1016654"/>
          </a:xfrm>
        </p:spPr>
        <p:txBody>
          <a:bodyPr>
            <a:normAutofit/>
          </a:bodyPr>
          <a:lstStyle/>
          <a:p>
            <a:pPr>
              <a:defRPr sz="1800">
                <a:latin typeface="Calibri"/>
              </a:defRPr>
            </a:pPr>
            <a:r>
              <a:rPr lang="en-IN" sz="2000" dirty="0">
                <a:solidFill>
                  <a:srgbClr val="EBEBEB"/>
                </a:solidFill>
              </a:rPr>
              <a:t>Recommendations – Long-Term Strategy</a:t>
            </a:r>
          </a:p>
        </p:txBody>
      </p:sp>
      <p:sp>
        <p:nvSpPr>
          <p:cNvPr id="23" name="Rectangle 22">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Freeform: Shape 24">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762067"/>
            <a:ext cx="9144312"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IN"/>
          </a:p>
        </p:txBody>
      </p:sp>
      <p:graphicFrame>
        <p:nvGraphicFramePr>
          <p:cNvPr id="5" name="Content Placeholder 2">
            <a:extLst>
              <a:ext uri="{FF2B5EF4-FFF2-40B4-BE49-F238E27FC236}">
                <a16:creationId xmlns:a16="http://schemas.microsoft.com/office/drawing/2014/main" id="{980791E4-27CF-8CDE-427A-F777B61E1018}"/>
              </a:ext>
            </a:extLst>
          </p:cNvPr>
          <p:cNvGraphicFramePr>
            <a:graphicFrameLocks noGrp="1"/>
          </p:cNvGraphicFramePr>
          <p:nvPr>
            <p:ph idx="1"/>
            <p:extLst>
              <p:ext uri="{D42A27DB-BD31-4B8C-83A1-F6EECF244321}">
                <p14:modId xmlns:p14="http://schemas.microsoft.com/office/powerpoint/2010/main" val="245224613"/>
              </p:ext>
            </p:extLst>
          </p:nvPr>
        </p:nvGraphicFramePr>
        <p:xfrm>
          <a:off x="486697" y="2286162"/>
          <a:ext cx="8303342" cy="42719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defRPr sz="1800">
                <a:latin typeface="Calibri"/>
              </a:defRPr>
            </a:pPr>
            <a:r>
              <a:rPr sz="3200" dirty="0"/>
              <a:t>Conclusion</a:t>
            </a:r>
          </a:p>
        </p:txBody>
      </p:sp>
      <p:sp>
        <p:nvSpPr>
          <p:cNvPr id="3" name="Content Placeholder 2"/>
          <p:cNvSpPr>
            <a:spLocks noGrp="1"/>
          </p:cNvSpPr>
          <p:nvPr>
            <p:ph idx="1"/>
          </p:nvPr>
        </p:nvSpPr>
        <p:spPr>
          <a:xfrm>
            <a:off x="827700" y="1533833"/>
            <a:ext cx="6711654" cy="4714574"/>
          </a:xfrm>
        </p:spPr>
        <p:txBody>
          <a:bodyPr/>
          <a:lstStyle/>
          <a:p>
            <a:pPr>
              <a:defRPr sz="1800">
                <a:latin typeface="Calibri"/>
              </a:defRPr>
            </a:pPr>
            <a:r>
              <a:rPr dirty="0"/>
              <a:t>The Superstore sales data highlights strong overall performance with consistent revenue growth led by the West and East regions. Technology and Office Supplies remain key drivers, with high engagement from Consumer and Corporate segments. By enhancing regional focus, leveraging predictive analytics, and promoting digital payment adoption, the Superstore can further scale its $1.6M revenue base and sustain profitability growth across all segments.</a:t>
            </a:r>
            <a:endParaRPr lang="en-IN" dirty="0"/>
          </a:p>
          <a:p>
            <a:pPr>
              <a:defRPr sz="1800">
                <a:latin typeface="Calibri"/>
              </a:defRPr>
            </a:pPr>
            <a:r>
              <a:rPr lang="en-US" sz="1800" dirty="0"/>
              <a:t>In conclusion, Superstore stands in a strong growth phase. By combining </a:t>
            </a:r>
            <a:r>
              <a:rPr lang="en-US" sz="1800" b="1" dirty="0"/>
              <a:t>data-led decision-making, customer-centric strategies, and operational excellence</a:t>
            </a:r>
            <a:r>
              <a:rPr lang="en-US" sz="1800" dirty="0"/>
              <a:t>, it can transform its current performance into long-term sustainable success and achieve </a:t>
            </a:r>
            <a:r>
              <a:rPr lang="en-US" sz="1800" b="1" dirty="0"/>
              <a:t>consistent double-digit growth in revenue and profitability.</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58F32B-617C-DB72-5828-A74E3A6A4F9D}"/>
            </a:ext>
          </a:extLst>
        </p:cNvPr>
        <p:cNvGrpSpPr/>
        <p:nvPr/>
      </p:nvGrpSpPr>
      <p:grpSpPr>
        <a:xfrm>
          <a:off x="0" y="0"/>
          <a:ext cx="0" cy="0"/>
          <a:chOff x="0" y="0"/>
          <a:chExt cx="0" cy="0"/>
        </a:xfrm>
      </p:grpSpPr>
      <p:pic>
        <p:nvPicPr>
          <p:cNvPr id="61" name="Picture 60">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3027759" cy="4188315"/>
          </a:xfrm>
          <a:prstGeom prst="rect">
            <a:avLst/>
          </a:prstGeom>
        </p:spPr>
      </p:pic>
      <p:pic>
        <p:nvPicPr>
          <p:cNvPr id="63" name="Picture 62">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141809" cy="2365453"/>
          </a:xfrm>
          <a:prstGeom prst="rect">
            <a:avLst/>
          </a:prstGeom>
        </p:spPr>
      </p:pic>
      <p:sp>
        <p:nvSpPr>
          <p:cNvPr id="65" name="Oval 64">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676400"/>
            <a:ext cx="211455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67" name="Picture 66">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1141407"/>
          </a:xfrm>
          <a:prstGeom prst="rect">
            <a:avLst/>
          </a:prstGeom>
        </p:spPr>
      </p:pic>
      <p:pic>
        <p:nvPicPr>
          <p:cNvPr id="69" name="Picture 68">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6096000"/>
            <a:ext cx="745301" cy="762000"/>
          </a:xfrm>
          <a:prstGeom prst="rect">
            <a:avLst/>
          </a:prstGeom>
        </p:spPr>
      </p:pic>
      <p:sp>
        <p:nvSpPr>
          <p:cNvPr id="71" name="Rectangle 70">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3" name="Rectangle 72">
            <a:extLst>
              <a:ext uri="{FF2B5EF4-FFF2-40B4-BE49-F238E27FC236}">
                <a16:creationId xmlns:a16="http://schemas.microsoft.com/office/drawing/2014/main" id="{C6A81905-F480-46A4-BC10-215D24EA1A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6C3AF8-5CBA-D63A-1B3A-67FA7505318C}"/>
              </a:ext>
            </a:extLst>
          </p:cNvPr>
          <p:cNvSpPr>
            <a:spLocks noGrp="1"/>
          </p:cNvSpPr>
          <p:nvPr>
            <p:ph type="title"/>
          </p:nvPr>
        </p:nvSpPr>
        <p:spPr>
          <a:xfrm>
            <a:off x="3654009" y="1447800"/>
            <a:ext cx="3916743" cy="3329581"/>
          </a:xfrm>
        </p:spPr>
        <p:txBody>
          <a:bodyPr vert="horz" lIns="91440" tIns="45720" rIns="91440" bIns="45720" rtlCol="0" anchor="b">
            <a:normAutofit/>
          </a:bodyPr>
          <a:lstStyle/>
          <a:p>
            <a:pPr defTabSz="457200">
              <a:defRPr sz="1800">
                <a:latin typeface="Calibri"/>
              </a:defRPr>
            </a:pPr>
            <a:r>
              <a:rPr lang="en-US" sz="7200" b="0" i="0" kern="1200">
                <a:solidFill>
                  <a:srgbClr val="EBEBEB"/>
                </a:solidFill>
                <a:latin typeface="+mj-lt"/>
                <a:ea typeface="+mj-ea"/>
                <a:cs typeface="+mj-cs"/>
              </a:rPr>
              <a:t>THANK YOU</a:t>
            </a:r>
          </a:p>
        </p:txBody>
      </p:sp>
      <p:sp>
        <p:nvSpPr>
          <p:cNvPr id="75" name="Freeform 8">
            <a:extLst>
              <a:ext uri="{FF2B5EF4-FFF2-40B4-BE49-F238E27FC236}">
                <a16:creationId xmlns:a16="http://schemas.microsoft.com/office/drawing/2014/main" id="{36FD4D9D-3784-41E8-8405-A42B72F5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101769" y="-1"/>
            <a:ext cx="419604"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77" name="Freeform: Shape 76">
            <a:extLst>
              <a:ext uri="{FF2B5EF4-FFF2-40B4-BE49-F238E27FC236}">
                <a16:creationId xmlns:a16="http://schemas.microsoft.com/office/drawing/2014/main" id="{09811DF6-66E4-43D5-B564-3151796531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61473" cy="6858000"/>
          </a:xfrm>
          <a:custGeom>
            <a:avLst/>
            <a:gdLst>
              <a:gd name="connsiteX0" fmla="*/ 3137249 w 4481964"/>
              <a:gd name="connsiteY0" fmla="*/ 0 h 6858000"/>
              <a:gd name="connsiteX1" fmla="*/ 4480787 w 4481964"/>
              <a:gd name="connsiteY1" fmla="*/ 0 h 6858000"/>
              <a:gd name="connsiteX2" fmla="*/ 4455742 w 4481964"/>
              <a:gd name="connsiteY2" fmla="*/ 155676 h 6858000"/>
              <a:gd name="connsiteX3" fmla="*/ 4431873 w 4481964"/>
              <a:gd name="connsiteY3" fmla="*/ 310667 h 6858000"/>
              <a:gd name="connsiteX4" fmla="*/ 4408509 w 4481964"/>
              <a:gd name="connsiteY4" fmla="*/ 466344 h 6858000"/>
              <a:gd name="connsiteX5" fmla="*/ 4388506 w 4481964"/>
              <a:gd name="connsiteY5" fmla="*/ 622706 h 6858000"/>
              <a:gd name="connsiteX6" fmla="*/ 4368335 w 4481964"/>
              <a:gd name="connsiteY6" fmla="*/ 778383 h 6858000"/>
              <a:gd name="connsiteX7" fmla="*/ 4349509 w 4481964"/>
              <a:gd name="connsiteY7" fmla="*/ 934745 h 6858000"/>
              <a:gd name="connsiteX8" fmla="*/ 4333373 w 4481964"/>
              <a:gd name="connsiteY8" fmla="*/ 1089050 h 6858000"/>
              <a:gd name="connsiteX9" fmla="*/ 4318077 w 4481964"/>
              <a:gd name="connsiteY9" fmla="*/ 1245413 h 6858000"/>
              <a:gd name="connsiteX10" fmla="*/ 4304125 w 4481964"/>
              <a:gd name="connsiteY10" fmla="*/ 1401089 h 6858000"/>
              <a:gd name="connsiteX11" fmla="*/ 4292023 w 4481964"/>
              <a:gd name="connsiteY11" fmla="*/ 1554023 h 6858000"/>
              <a:gd name="connsiteX12" fmla="*/ 4279920 w 4481964"/>
              <a:gd name="connsiteY12" fmla="*/ 1709013 h 6858000"/>
              <a:gd name="connsiteX13" fmla="*/ 4269835 w 4481964"/>
              <a:gd name="connsiteY13" fmla="*/ 1861947 h 6858000"/>
              <a:gd name="connsiteX14" fmla="*/ 4261935 w 4481964"/>
              <a:gd name="connsiteY14" fmla="*/ 2014880 h 6858000"/>
              <a:gd name="connsiteX15" fmla="*/ 4253698 w 4481964"/>
              <a:gd name="connsiteY15" fmla="*/ 2167128 h 6858000"/>
              <a:gd name="connsiteX16" fmla="*/ 4246807 w 4481964"/>
              <a:gd name="connsiteY16" fmla="*/ 2318004 h 6858000"/>
              <a:gd name="connsiteX17" fmla="*/ 4241932 w 4481964"/>
              <a:gd name="connsiteY17" fmla="*/ 2467508 h 6858000"/>
              <a:gd name="connsiteX18" fmla="*/ 4237730 w 4481964"/>
              <a:gd name="connsiteY18" fmla="*/ 2617013 h 6858000"/>
              <a:gd name="connsiteX19" fmla="*/ 4233696 w 4481964"/>
              <a:gd name="connsiteY19" fmla="*/ 2765145 h 6858000"/>
              <a:gd name="connsiteX20" fmla="*/ 4231847 w 4481964"/>
              <a:gd name="connsiteY20" fmla="*/ 2911221 h 6858000"/>
              <a:gd name="connsiteX21" fmla="*/ 4229830 w 4481964"/>
              <a:gd name="connsiteY21" fmla="*/ 3057296 h 6858000"/>
              <a:gd name="connsiteX22" fmla="*/ 4228821 w 4481964"/>
              <a:gd name="connsiteY22" fmla="*/ 3201314 h 6858000"/>
              <a:gd name="connsiteX23" fmla="*/ 4229830 w 4481964"/>
              <a:gd name="connsiteY23" fmla="*/ 3343960 h 6858000"/>
              <a:gd name="connsiteX24" fmla="*/ 4229830 w 4481964"/>
              <a:gd name="connsiteY24" fmla="*/ 3485235 h 6858000"/>
              <a:gd name="connsiteX25" fmla="*/ 4231847 w 4481964"/>
              <a:gd name="connsiteY25" fmla="*/ 3625138 h 6858000"/>
              <a:gd name="connsiteX26" fmla="*/ 4234872 w 4481964"/>
              <a:gd name="connsiteY26" fmla="*/ 3762298 h 6858000"/>
              <a:gd name="connsiteX27" fmla="*/ 4237730 w 4481964"/>
              <a:gd name="connsiteY27" fmla="*/ 3898087 h 6858000"/>
              <a:gd name="connsiteX28" fmla="*/ 4240924 w 4481964"/>
              <a:gd name="connsiteY28" fmla="*/ 4031132 h 6858000"/>
              <a:gd name="connsiteX29" fmla="*/ 4245798 w 4481964"/>
              <a:gd name="connsiteY29" fmla="*/ 4163491 h 6858000"/>
              <a:gd name="connsiteX30" fmla="*/ 4251009 w 4481964"/>
              <a:gd name="connsiteY30" fmla="*/ 4293793 h 6858000"/>
              <a:gd name="connsiteX31" fmla="*/ 4255715 w 4481964"/>
              <a:gd name="connsiteY31" fmla="*/ 4421352 h 6858000"/>
              <a:gd name="connsiteX32" fmla="*/ 4268995 w 4481964"/>
              <a:gd name="connsiteY32" fmla="*/ 4670298 h 6858000"/>
              <a:gd name="connsiteX33" fmla="*/ 4283114 w 4481964"/>
              <a:gd name="connsiteY33" fmla="*/ 4908956 h 6858000"/>
              <a:gd name="connsiteX34" fmla="*/ 4297906 w 4481964"/>
              <a:gd name="connsiteY34" fmla="*/ 5138013 h 6858000"/>
              <a:gd name="connsiteX35" fmla="*/ 4314211 w 4481964"/>
              <a:gd name="connsiteY35" fmla="*/ 5354726 h 6858000"/>
              <a:gd name="connsiteX36" fmla="*/ 4331188 w 4481964"/>
              <a:gd name="connsiteY36" fmla="*/ 5561838 h 6858000"/>
              <a:gd name="connsiteX37" fmla="*/ 4349509 w 4481964"/>
              <a:gd name="connsiteY37" fmla="*/ 5753862 h 6858000"/>
              <a:gd name="connsiteX38" fmla="*/ 4367495 w 4481964"/>
              <a:gd name="connsiteY38" fmla="*/ 5934227 h 6858000"/>
              <a:gd name="connsiteX39" fmla="*/ 4385480 w 4481964"/>
              <a:gd name="connsiteY39" fmla="*/ 6100191 h 6858000"/>
              <a:gd name="connsiteX40" fmla="*/ 4402457 w 4481964"/>
              <a:gd name="connsiteY40" fmla="*/ 6252438 h 6858000"/>
              <a:gd name="connsiteX41" fmla="*/ 4418594 w 4481964"/>
              <a:gd name="connsiteY41" fmla="*/ 6387541 h 6858000"/>
              <a:gd name="connsiteX42" fmla="*/ 4433890 w 4481964"/>
              <a:gd name="connsiteY42" fmla="*/ 6509613 h 6858000"/>
              <a:gd name="connsiteX43" fmla="*/ 4446665 w 4481964"/>
              <a:gd name="connsiteY43" fmla="*/ 6612483 h 6858000"/>
              <a:gd name="connsiteX44" fmla="*/ 4458767 w 4481964"/>
              <a:gd name="connsiteY44" fmla="*/ 6698894 h 6858000"/>
              <a:gd name="connsiteX45" fmla="*/ 4476081 w 4481964"/>
              <a:gd name="connsiteY45" fmla="*/ 6817538 h 6858000"/>
              <a:gd name="connsiteX46" fmla="*/ 4481964 w 4481964"/>
              <a:gd name="connsiteY46" fmla="*/ 6858000 h 6858000"/>
              <a:gd name="connsiteX47" fmla="*/ 3577807 w 4481964"/>
              <a:gd name="connsiteY47" fmla="*/ 6858000 h 6858000"/>
              <a:gd name="connsiteX48" fmla="*/ 3577807 w 4481964"/>
              <a:gd name="connsiteY48" fmla="*/ 6858000 h 6858000"/>
              <a:gd name="connsiteX49" fmla="*/ 0 w 4481964"/>
              <a:gd name="connsiteY49" fmla="*/ 6858000 h 6858000"/>
              <a:gd name="connsiteX50" fmla="*/ 0 w 4481964"/>
              <a:gd name="connsiteY50" fmla="*/ 0 h 6858000"/>
              <a:gd name="connsiteX51" fmla="*/ 3137249 w 448196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481964" h="6858000">
                <a:moveTo>
                  <a:pt x="3137249" y="0"/>
                </a:moveTo>
                <a:lnTo>
                  <a:pt x="4480787" y="0"/>
                </a:lnTo>
                <a:lnTo>
                  <a:pt x="4455742" y="155676"/>
                </a:lnTo>
                <a:lnTo>
                  <a:pt x="4431873" y="310667"/>
                </a:lnTo>
                <a:lnTo>
                  <a:pt x="4408509" y="466344"/>
                </a:lnTo>
                <a:lnTo>
                  <a:pt x="4388506" y="622706"/>
                </a:lnTo>
                <a:lnTo>
                  <a:pt x="4368335" y="778383"/>
                </a:lnTo>
                <a:lnTo>
                  <a:pt x="4349509" y="934745"/>
                </a:lnTo>
                <a:lnTo>
                  <a:pt x="4333373" y="1089050"/>
                </a:lnTo>
                <a:lnTo>
                  <a:pt x="4318077" y="1245413"/>
                </a:lnTo>
                <a:lnTo>
                  <a:pt x="4304125" y="1401089"/>
                </a:lnTo>
                <a:lnTo>
                  <a:pt x="4292023" y="1554023"/>
                </a:lnTo>
                <a:lnTo>
                  <a:pt x="4279920" y="1709013"/>
                </a:lnTo>
                <a:lnTo>
                  <a:pt x="4269835" y="1861947"/>
                </a:lnTo>
                <a:lnTo>
                  <a:pt x="4261935" y="2014880"/>
                </a:lnTo>
                <a:lnTo>
                  <a:pt x="4253698" y="2167128"/>
                </a:lnTo>
                <a:lnTo>
                  <a:pt x="4246807" y="2318004"/>
                </a:lnTo>
                <a:lnTo>
                  <a:pt x="4241932" y="2467508"/>
                </a:lnTo>
                <a:lnTo>
                  <a:pt x="4237730" y="2617013"/>
                </a:lnTo>
                <a:lnTo>
                  <a:pt x="4233696" y="2765145"/>
                </a:lnTo>
                <a:lnTo>
                  <a:pt x="4231847" y="2911221"/>
                </a:lnTo>
                <a:lnTo>
                  <a:pt x="4229830" y="3057296"/>
                </a:lnTo>
                <a:lnTo>
                  <a:pt x="4228821" y="3201314"/>
                </a:lnTo>
                <a:lnTo>
                  <a:pt x="4229830" y="3343960"/>
                </a:lnTo>
                <a:lnTo>
                  <a:pt x="4229830" y="3485235"/>
                </a:lnTo>
                <a:lnTo>
                  <a:pt x="4231847" y="3625138"/>
                </a:lnTo>
                <a:lnTo>
                  <a:pt x="4234872" y="3762298"/>
                </a:lnTo>
                <a:lnTo>
                  <a:pt x="4237730" y="3898087"/>
                </a:lnTo>
                <a:lnTo>
                  <a:pt x="4240924" y="4031132"/>
                </a:lnTo>
                <a:lnTo>
                  <a:pt x="4245798" y="4163491"/>
                </a:lnTo>
                <a:lnTo>
                  <a:pt x="4251009" y="4293793"/>
                </a:lnTo>
                <a:lnTo>
                  <a:pt x="4255715" y="4421352"/>
                </a:lnTo>
                <a:lnTo>
                  <a:pt x="4268995" y="4670298"/>
                </a:lnTo>
                <a:lnTo>
                  <a:pt x="4283114" y="4908956"/>
                </a:lnTo>
                <a:lnTo>
                  <a:pt x="4297906" y="5138013"/>
                </a:lnTo>
                <a:lnTo>
                  <a:pt x="4314211" y="5354726"/>
                </a:lnTo>
                <a:lnTo>
                  <a:pt x="4331188" y="5561838"/>
                </a:lnTo>
                <a:lnTo>
                  <a:pt x="4349509" y="5753862"/>
                </a:lnTo>
                <a:lnTo>
                  <a:pt x="4367495" y="5934227"/>
                </a:lnTo>
                <a:lnTo>
                  <a:pt x="4385480" y="6100191"/>
                </a:lnTo>
                <a:lnTo>
                  <a:pt x="4402457" y="6252438"/>
                </a:lnTo>
                <a:lnTo>
                  <a:pt x="4418594" y="6387541"/>
                </a:lnTo>
                <a:lnTo>
                  <a:pt x="4433890" y="6509613"/>
                </a:lnTo>
                <a:lnTo>
                  <a:pt x="4446665" y="6612483"/>
                </a:lnTo>
                <a:lnTo>
                  <a:pt x="4458767" y="6698894"/>
                </a:lnTo>
                <a:lnTo>
                  <a:pt x="4476081" y="6817538"/>
                </a:lnTo>
                <a:lnTo>
                  <a:pt x="4481964" y="6858000"/>
                </a:lnTo>
                <a:lnTo>
                  <a:pt x="3577807" y="6858000"/>
                </a:lnTo>
                <a:lnTo>
                  <a:pt x="3577807" y="6858000"/>
                </a:lnTo>
                <a:lnTo>
                  <a:pt x="0" y="6858000"/>
                </a:lnTo>
                <a:lnTo>
                  <a:pt x="0" y="0"/>
                </a:lnTo>
                <a:lnTo>
                  <a:pt x="313724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Rectangle 78">
            <a:extLst>
              <a:ext uri="{FF2B5EF4-FFF2-40B4-BE49-F238E27FC236}">
                <a16:creationId xmlns:a16="http://schemas.microsoft.com/office/drawing/2014/main" id="{60817A52-B891-4228-A61E-0C0A57632D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58" name="Graphic 57" descr="Smiling Face with No Fill">
            <a:extLst>
              <a:ext uri="{FF2B5EF4-FFF2-40B4-BE49-F238E27FC236}">
                <a16:creationId xmlns:a16="http://schemas.microsoft.com/office/drawing/2014/main" id="{920A5A68-6815-E2BA-0CB2-1E6497A7609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85430" y="2441986"/>
            <a:ext cx="2202627" cy="2202627"/>
          </a:xfrm>
          <a:prstGeom prst="rect">
            <a:avLst/>
          </a:prstGeom>
          <a:effectLst/>
        </p:spPr>
      </p:pic>
    </p:spTree>
    <p:extLst>
      <p:ext uri="{BB962C8B-B14F-4D97-AF65-F5344CB8AC3E}">
        <p14:creationId xmlns:p14="http://schemas.microsoft.com/office/powerpoint/2010/main" val="291954932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TM02836342[[fn=Ion]]</Template>
  <TotalTime>1107</TotalTime>
  <Words>652</Words>
  <Application>Microsoft Office PowerPoint</Application>
  <PresentationFormat>On-screen Show (4:3)</PresentationFormat>
  <Paragraphs>48</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Century Gothic</vt:lpstr>
      <vt:lpstr>Wingdings 3</vt:lpstr>
      <vt:lpstr>Ion</vt:lpstr>
      <vt:lpstr>Superstore Sales Analysis – Insights &amp; Recommendations</vt:lpstr>
      <vt:lpstr>Key Insights – Overall Performance</vt:lpstr>
      <vt:lpstr>Key Insights – Product &amp; Category</vt:lpstr>
      <vt:lpstr>Key Insights – Regional &amp; Forecast Analysis</vt:lpstr>
      <vt:lpstr>Recommendations – Sales &amp; Growth Strategy</vt:lpstr>
      <vt:lpstr>Recommendations – Operations &amp; Customer Engagement</vt:lpstr>
      <vt:lpstr>Recommendations – Long-Term Strategy</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Ashish Kumar</cp:lastModifiedBy>
  <cp:revision>3</cp:revision>
  <dcterms:created xsi:type="dcterms:W3CDTF">2013-01-27T09:14:16Z</dcterms:created>
  <dcterms:modified xsi:type="dcterms:W3CDTF">2025-10-28T20:13:19Z</dcterms:modified>
  <cp:category/>
</cp:coreProperties>
</file>